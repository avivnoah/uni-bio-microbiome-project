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4"/>
  </p:notesMasterIdLst>
  <p:sldIdLst>
    <p:sldId id="256" r:id="rId2"/>
    <p:sldId id="270" r:id="rId3"/>
    <p:sldId id="271" r:id="rId4"/>
    <p:sldId id="277" r:id="rId5"/>
    <p:sldId id="257" r:id="rId6"/>
    <p:sldId id="280" r:id="rId7"/>
    <p:sldId id="272" r:id="rId8"/>
    <p:sldId id="258" r:id="rId9"/>
    <p:sldId id="259" r:id="rId10"/>
    <p:sldId id="260" r:id="rId11"/>
    <p:sldId id="261" r:id="rId12"/>
    <p:sldId id="273" r:id="rId13"/>
    <p:sldId id="262" r:id="rId14"/>
    <p:sldId id="274" r:id="rId15"/>
    <p:sldId id="267" r:id="rId16"/>
    <p:sldId id="268" r:id="rId17"/>
    <p:sldId id="279" r:id="rId18"/>
    <p:sldId id="281" r:id="rId19"/>
    <p:sldId id="275" r:id="rId20"/>
    <p:sldId id="269" r:id="rId21"/>
    <p:sldId id="282" r:id="rId22"/>
    <p:sldId id="276" r:id="rId2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EBA64B8-3D53-CBE6-B577-6D7B2452B74B}" name="Omri Peleg" initials="OP" userId="S::omrip@mail.tau.ac.il::f6da30bc-3408-4f01-8c7a-c3762693bc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29362C7-4538-4BA7-8685-7574AD5EFB1D}" type="datetimeFigureOut">
              <a:rPr lang="he-IL" smtClean="0"/>
              <a:t>כ"ה/אייר/תשפ"ו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DE396EE8-93DA-4636-B973-BCDC644034F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2610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20CB362-958E-ADBE-5434-1F667C11D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F4F44CA-2D50-F53A-72DB-12A632836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7F8A0EB-08DC-85D3-2135-4327795AD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64ED-EE80-4D20-9E83-FA53BDFDFAE1}" type="datetimeFigureOut">
              <a:rPr lang="he-IL" smtClean="0"/>
              <a:t>כ"ה/אייר/תשפ"ו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BF539AB-267E-CE37-51F5-8E62B9F6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C5D9964-529A-1032-0618-CE3363F4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FA7EC-2E15-4A0E-B183-D4C0B9DFCB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1986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7D63B2D-FA4B-C81D-52BD-EA587C9ED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BA3179E-11C8-70E8-BACE-98FDE1E12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C0146CB-3F95-0275-22FA-090F9207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64ED-EE80-4D20-9E83-FA53BDFDFAE1}" type="datetimeFigureOut">
              <a:rPr lang="he-IL" smtClean="0"/>
              <a:t>כ"ה/אייר/תשפ"ו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A384C38-5E2C-84FC-4BED-76B69B62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7B444C2-5140-2929-7C53-ACB5F44E7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FA7EC-2E15-4A0E-B183-D4C0B9DFCB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92715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397DC4-DF98-415E-5945-64FFDDCF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D1EA959-6272-0B72-478C-4344651A4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7AF956D-F2AA-5FC6-84AB-F7D37C6CE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64ED-EE80-4D20-9E83-FA53BDFDFAE1}" type="datetimeFigureOut">
              <a:rPr lang="he-IL" smtClean="0"/>
              <a:t>כ"ה/אייר/תשפ"ו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5EFE80B-4BBC-F61C-185C-27614151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54145E1-D5C7-A2A4-8AD5-CC625D49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FA7EC-2E15-4A0E-B183-D4C0B9DFCB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403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95BD33D-0F69-CAC3-0CA9-09F5A7696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4C0BA62-7699-AFDB-484D-3D68C35AF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510A039-4F9B-894C-8B79-D2CBAA180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4B7C8D8-105F-FA0E-231C-24C20B25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64ED-EE80-4D20-9E83-FA53BDFDFAE1}" type="datetimeFigureOut">
              <a:rPr lang="he-IL" smtClean="0"/>
              <a:t>כ"ה/אייר/תשפ"ו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425057C-E462-8064-805A-8F92EBC5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D9A44D7-7913-B628-0C7A-52746C097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FA7EC-2E15-4A0E-B183-D4C0B9DFCB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73928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6220AE1-7A29-A4B9-2D41-CEA8CA0D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1F43259-044F-4974-3809-BF4868DDC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90993E4-7659-92CB-48C1-1E610D5F5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F7F7532C-356C-1F67-3C9F-A71C75240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F08B2283-9714-B7D5-0067-5E6F7F744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0CE46C35-ACD2-5746-9262-DE58D7D3D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64ED-EE80-4D20-9E83-FA53BDFDFAE1}" type="datetimeFigureOut">
              <a:rPr lang="he-IL" smtClean="0"/>
              <a:t>כ"ה/אייר/תשפ"ו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77524BEE-C788-76EA-5C76-1ED76955D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FD6B9A47-5D22-5615-F85F-59440DA47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FA7EC-2E15-4A0E-B183-D4C0B9DFCB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5590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549050B-BF91-8C13-FC7A-DD0BCFCE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45D82B32-B6D5-E7B0-7E24-7A6C9929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64ED-EE80-4D20-9E83-FA53BDFDFAE1}" type="datetimeFigureOut">
              <a:rPr lang="he-IL" smtClean="0"/>
              <a:t>כ"ה/אייר/תשפ"ו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ACCAFAD3-46CC-0EF0-9181-CE44C63F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F35508C-0F53-2458-2940-B6AD37275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FA7EC-2E15-4A0E-B183-D4C0B9DFCB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421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A9C9155-ADCB-C6C4-35A5-F803F135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64ED-EE80-4D20-9E83-FA53BDFDFAE1}" type="datetimeFigureOut">
              <a:rPr lang="he-IL" smtClean="0"/>
              <a:t>כ"ה/אייר/תשפ"ו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618BD0F-AC55-2679-1B11-196530389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BBE2AD4-E4F8-409E-394C-F7A0ADF6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FA7EC-2E15-4A0E-B183-D4C0B9DFCB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3801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3E028E8-D3D2-5947-8FBD-A8838E15B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28E0BD4-B45C-ECF7-61FB-EA7D84921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7693999-41A3-6827-57BB-E241F6F14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106CB88-49E2-38B4-C2BC-C4958B4E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64ED-EE80-4D20-9E83-FA53BDFDFAE1}" type="datetimeFigureOut">
              <a:rPr lang="he-IL" smtClean="0"/>
              <a:t>כ"ה/אייר/תשפ"ו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9FEEB61-568C-BBB9-B779-21CBB5E04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2C8289D-07E4-B18E-4C9C-1E1FC282D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FA7EC-2E15-4A0E-B183-D4C0B9DFCB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1895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DD17150-607C-EE39-9A3C-2D2CE038F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A15684EC-5853-8BD2-BBFF-D3BAE28001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E2A3AFD-F017-6887-2A97-36CB2F824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008B723-DB31-FA35-CB4D-7A128202F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64ED-EE80-4D20-9E83-FA53BDFDFAE1}" type="datetimeFigureOut">
              <a:rPr lang="he-IL" smtClean="0"/>
              <a:t>כ"ה/אייר/תשפ"ו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DC6FEEC-C9C3-A3CB-45B3-8A4E00EDB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27E28FC-34F9-AFAD-59BD-6740D938F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FA7EC-2E15-4A0E-B183-D4C0B9DFCB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12858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162720C-4410-F580-DB3B-7BEEA16B0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75EDCF6-AB55-C831-CE68-227E0D2FF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1C1B580-75BB-0A2E-ECD9-8248A685D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64ED-EE80-4D20-9E83-FA53BDFDFAE1}" type="datetimeFigureOut">
              <a:rPr lang="he-IL" smtClean="0"/>
              <a:t>כ"ה/אייר/תשפ"ו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A25084F-B418-E281-2E10-1E2DE831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31C4910-5F63-497B-7908-69C914D5A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FA7EC-2E15-4A0E-B183-D4C0B9DFCB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2371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66B28E16-32EE-7450-60DD-DC50DDB22C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1C7AEDC-D4B0-9B95-BB79-BE2EB7C5F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B5E577F-6EC1-5865-00E7-AA6DF45DB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64ED-EE80-4D20-9E83-FA53BDFDFAE1}" type="datetimeFigureOut">
              <a:rPr lang="he-IL" smtClean="0"/>
              <a:t>כ"ה/אייר/תשפ"ו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4263C4-9E80-B865-84C9-8BD10087C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EF47957-91EB-0BD6-471A-B6FFB3A47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FA7EC-2E15-4A0E-B183-D4C0B9DFCB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864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7B5C6F5-5005-B501-2F66-78E66EF26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BAA07ED-9A7C-EFDC-DCD7-0DF5A819D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BF8E902-9E74-9798-2EF0-24E123E56D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764ED-EE80-4D20-9E83-FA53BDFDFAE1}" type="datetimeFigureOut">
              <a:rPr lang="he-IL" smtClean="0"/>
              <a:t>כ"ה/אייר/תשפ"ו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D1A2B9D-860A-473E-1EF8-56CCCF9A0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1F82B0F-C79D-A0C3-EBC7-3DC0BC75F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FA7EC-2E15-4A0E-B183-D4C0B9DFCB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54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D444E82-0C15-25B0-3A9F-3CA9D32D02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Project</a:t>
            </a: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6B57432-3CCA-13DC-28DD-3182BFD25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Workshop in Computational Analysis of the Microbiome</a:t>
            </a:r>
          </a:p>
          <a:p>
            <a:endParaRPr lang="en-US" dirty="0"/>
          </a:p>
          <a:p>
            <a:r>
              <a:rPr lang="en-US" dirty="0"/>
              <a:t>Spring 2026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78555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CE46F0-55BB-F202-B8F0-8F788922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Agenda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26A06F1-D6B9-533D-A090-305DA90B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dirty="0"/>
              <a:t>Project description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Project data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Submission guidelines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Milestones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Evaluation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65153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CE46F0-55BB-F202-B8F0-8F788922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Agenda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26A06F1-D6B9-533D-A090-305DA90B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dirty="0"/>
              <a:t>Project description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Project data</a:t>
            </a:r>
          </a:p>
          <a:p>
            <a:pPr algn="l" rtl="0"/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Submission guidelines</a:t>
            </a:r>
          </a:p>
          <a:p>
            <a:pPr algn="l" rtl="0"/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Milestones</a:t>
            </a:r>
          </a:p>
          <a:p>
            <a:pPr algn="l" rtl="0"/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Evaluation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40163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51638B-C51D-65CE-6BC6-B5243234C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Goal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61F1993-B91C-870E-0AFB-85FB7FD4C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Find the combined microbiome-metabolome distance between samples with missing omics data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23626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C480BF-868E-437F-9A95-6B7B40CD4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Description	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F78AD5D-8683-A30D-7AD6-0C9F416FF1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609114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algn="l" rtl="0"/>
                <a:r>
                  <a:rPr lang="en-US" dirty="0"/>
                  <a:t>You will be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microbiome and metabolome samples </a:t>
                </a:r>
              </a:p>
              <a:p>
                <a:pPr lvl="1" algn="l" rtl="0"/>
                <a:r>
                  <a:rPr lang="en-US" dirty="0"/>
                  <a:t>Most samples have both microbiome and metabolome data available</a:t>
                </a:r>
              </a:p>
              <a:p>
                <a:pPr lvl="1" algn="l" rtl="0"/>
                <a:r>
                  <a:rPr lang="en-US" dirty="0"/>
                  <a:t>Some samples have only one </a:t>
                </a:r>
                <a:r>
                  <a:rPr lang="en-US" dirty="0" err="1"/>
                  <a:t>omic</a:t>
                </a:r>
                <a:r>
                  <a:rPr lang="en-US" dirty="0"/>
                  <a:t> (we removed the other </a:t>
                </a:r>
                <a:r>
                  <a:rPr lang="en-US"/>
                  <a:t>omic)</a:t>
                </a:r>
                <a:endParaRPr lang="en-US" dirty="0"/>
              </a:p>
              <a:p>
                <a:pPr algn="l" rtl="0"/>
                <a:r>
                  <a:rPr lang="en-US" dirty="0"/>
                  <a:t>Your task is to build a pipeline that outputs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𝑛𝑋𝑛</m:t>
                    </m:r>
                  </m:oMath>
                </a14:m>
                <a:r>
                  <a:rPr lang="en-US" dirty="0"/>
                  <a:t> distance matrix calculated based on the microbiome and metabolome combined</a:t>
                </a:r>
              </a:p>
              <a:p>
                <a:pPr algn="l" rtl="0"/>
                <a:endParaRPr lang="en-US" dirty="0"/>
              </a:p>
              <a:p>
                <a:pPr algn="l" rtl="0"/>
                <a:r>
                  <a:rPr lang="en-US" dirty="0"/>
                  <a:t>Groups of student pairs</a:t>
                </a:r>
              </a:p>
              <a:p>
                <a:pPr lvl="1" algn="l" rtl="0"/>
                <a:r>
                  <a:rPr lang="en-US" dirty="0"/>
                  <a:t>In special circumstances we will approve groups of 1/3</a:t>
                </a: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F78AD5D-8683-A30D-7AD6-0C9F416FF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609114" cy="4351338"/>
              </a:xfrm>
              <a:blipFill>
                <a:blip r:embed="rId2"/>
                <a:stretch>
                  <a:fillRect l="-1282" t="-2801" b="-14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52809AF-012E-E458-1CB6-104AB1CA7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680" y="166461"/>
            <a:ext cx="3396340" cy="38621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9730E5-64E8-A1E4-894E-1BB91E432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123" y="4670253"/>
            <a:ext cx="3791908" cy="173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21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4407-C498-E9FF-2FB7-7CDC91687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Naïve solutions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3D4DE-C5D4-58D0-7FAA-5141F7C91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Impute the missing </a:t>
            </a:r>
            <a:r>
              <a:rPr lang="en-US" dirty="0" err="1"/>
              <a:t>omic</a:t>
            </a:r>
            <a:r>
              <a:rPr lang="en-US" dirty="0"/>
              <a:t> data</a:t>
            </a:r>
          </a:p>
          <a:p>
            <a:pPr lvl="1" algn="l" rtl="0"/>
            <a:r>
              <a:rPr lang="en-US" dirty="0"/>
              <a:t>KNN </a:t>
            </a:r>
          </a:p>
          <a:p>
            <a:pPr lvl="1" algn="l" rtl="0"/>
            <a:r>
              <a:rPr lang="en-US" dirty="0"/>
              <a:t>Random forest</a:t>
            </a:r>
          </a:p>
          <a:p>
            <a:pPr lvl="1" algn="l" rtl="0"/>
            <a:r>
              <a:rPr lang="en-US" dirty="0"/>
              <a:t>Naïve statistic – average, median, etc..</a:t>
            </a:r>
          </a:p>
          <a:p>
            <a:pPr lvl="1" algn="l" rtl="0"/>
            <a:endParaRPr lang="en-US" dirty="0"/>
          </a:p>
          <a:p>
            <a:pPr algn="l" rtl="0"/>
            <a:r>
              <a:rPr lang="en-US" dirty="0"/>
              <a:t>Use the imputed data to calculate the distance</a:t>
            </a:r>
            <a:endParaRPr lang="he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B40435-4FDD-23A6-0372-77E632F209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2" t="45050" r="13829" b="7210"/>
          <a:stretch>
            <a:fillRect/>
          </a:stretch>
        </p:blipFill>
        <p:spPr>
          <a:xfrm>
            <a:off x="8739266" y="2038661"/>
            <a:ext cx="2743200" cy="184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58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CE46F0-55BB-F202-B8F0-8F788922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Agenda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26A06F1-D6B9-533D-A090-305DA90B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Project description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Project data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Submission guidelines</a:t>
            </a:r>
          </a:p>
          <a:p>
            <a:pPr algn="l" rtl="0"/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Milestones</a:t>
            </a:r>
          </a:p>
          <a:p>
            <a:pPr algn="l" rtl="0"/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Evaluation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19536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3229CAF-1ADF-1E56-0B1D-CFE0621C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Data – General Description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3401B18-E279-2C8B-8FCF-D24BF92F4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dirty="0"/>
              <a:t>You will use the </a:t>
            </a:r>
            <a:r>
              <a:rPr lang="en-US" dirty="0" err="1"/>
              <a:t>MetaCardis</a:t>
            </a:r>
            <a:r>
              <a:rPr lang="en-US" dirty="0"/>
              <a:t> cohort</a:t>
            </a:r>
          </a:p>
          <a:p>
            <a:pPr lvl="1" algn="l" rtl="0"/>
            <a:r>
              <a:rPr lang="en-US" dirty="0"/>
              <a:t>A large-scale multi-</a:t>
            </a:r>
            <a:r>
              <a:rPr lang="en-US" dirty="0" err="1"/>
              <a:t>omic</a:t>
            </a:r>
            <a:r>
              <a:rPr lang="en-US" dirty="0"/>
              <a:t> study. </a:t>
            </a:r>
          </a:p>
          <a:p>
            <a:pPr lvl="1" algn="l" rtl="0"/>
            <a:r>
              <a:rPr lang="en-US" dirty="0"/>
              <a:t>Aims to identify novel microbial and metabolomic biomarkers for ischemic heart disease</a:t>
            </a:r>
          </a:p>
          <a:p>
            <a:pPr lvl="1" algn="l" rtl="0"/>
            <a:r>
              <a:rPr lang="en-US" dirty="0"/>
              <a:t>Includes healthy individuals, individuals with dysmetabolic morbidities, and individuals with heart disease</a:t>
            </a:r>
          </a:p>
          <a:p>
            <a:pPr lvl="1" algn="l" rtl="0"/>
            <a:r>
              <a:rPr lang="en-US" dirty="0"/>
              <a:t>three states (Denmark, Germany, and France). </a:t>
            </a:r>
          </a:p>
          <a:p>
            <a:pPr algn="l" rtl="0"/>
            <a:r>
              <a:rPr lang="en-US" dirty="0"/>
              <a:t>For more information on the cohort and its main finding, it is advisable to read its two main papers (in Moodle)</a:t>
            </a:r>
          </a:p>
          <a:p>
            <a:pPr algn="l" rtl="0"/>
            <a:r>
              <a:rPr lang="en-US" dirty="0"/>
              <a:t>Before the final submission you will receive two additional datasets for validation purposes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53400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5F79BC1-4E7D-B105-B0AA-23D76EB87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 err="1"/>
              <a:t>MetaCardis</a:t>
            </a:r>
            <a:r>
              <a:rPr lang="en-US" dirty="0"/>
              <a:t> - Metadata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15A3A30-45D6-2806-44CC-48EE8B86B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Metadata</a:t>
            </a:r>
          </a:p>
          <a:p>
            <a:pPr lvl="1" algn="l" rtl="0"/>
            <a:r>
              <a:rPr lang="en-US" dirty="0"/>
              <a:t>general info and lifestyle data on each participant</a:t>
            </a:r>
          </a:p>
          <a:p>
            <a:pPr lvl="1" algn="l" rtl="0"/>
            <a:r>
              <a:rPr lang="en-US" dirty="0"/>
              <a:t>Some patients may have missing values</a:t>
            </a:r>
          </a:p>
          <a:p>
            <a:pPr lvl="1" algn="l" rtl="0"/>
            <a:r>
              <a:rPr lang="en-US" dirty="0"/>
              <a:t>all patients have </a:t>
            </a:r>
            <a:r>
              <a:rPr lang="en-US" dirty="0" err="1"/>
              <a:t>PatientGroup</a:t>
            </a:r>
            <a:r>
              <a:rPr lang="en-US" dirty="0"/>
              <a:t> and CENTER information</a:t>
            </a:r>
          </a:p>
          <a:p>
            <a:pPr lvl="1" algn="l" rtl="0"/>
            <a:endParaRPr lang="en-US" b="1" dirty="0"/>
          </a:p>
          <a:p>
            <a:pPr algn="l" rtl="0"/>
            <a:endParaRPr lang="en-US" dirty="0"/>
          </a:p>
          <a:p>
            <a:pPr lvl="1" algn="l" rtl="0"/>
            <a:endParaRPr lang="en-US" b="1" dirty="0"/>
          </a:p>
          <a:p>
            <a:pPr lvl="1" algn="l" rtl="0"/>
            <a:endParaRPr lang="he-IL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001AE18-43FF-D55B-3253-44D8D1055F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188"/>
          <a:stretch/>
        </p:blipFill>
        <p:spPr>
          <a:xfrm>
            <a:off x="8731335" y="2068021"/>
            <a:ext cx="2622465" cy="447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28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3FD2041-F60F-FC5D-FAEA-D9670D98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Stool Metagenomic Data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1432635-3931-BEFD-41F5-C375BF49F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51320" cy="4351338"/>
          </a:xfrm>
        </p:spPr>
        <p:txBody>
          <a:bodyPr/>
          <a:lstStyle/>
          <a:p>
            <a:pPr algn="l" rtl="0"/>
            <a:r>
              <a:rPr lang="en-US" dirty="0"/>
              <a:t>Taxonomical data</a:t>
            </a:r>
          </a:p>
          <a:p>
            <a:pPr lvl="1" algn="l" rtl="0"/>
            <a:r>
              <a:rPr lang="en-US" dirty="0"/>
              <a:t>Relative abundance transformation on the abundance of microbial species in each subject</a:t>
            </a:r>
          </a:p>
          <a:p>
            <a:pPr lvl="2" algn="l" rtl="0"/>
            <a:r>
              <a:rPr lang="en-US" dirty="0"/>
              <a:t>Rare taxa are filtered</a:t>
            </a:r>
          </a:p>
          <a:p>
            <a:pPr lvl="1" algn="l" rtl="0"/>
            <a:r>
              <a:rPr lang="en-US" dirty="0"/>
              <a:t>Species level</a:t>
            </a:r>
          </a:p>
          <a:p>
            <a:pPr lvl="2" algn="l" rtl="0"/>
            <a:r>
              <a:rPr lang="en-US" dirty="0"/>
              <a:t>For higher taxonomy\phylogenetic tree – contact us!</a:t>
            </a:r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51B68F-8431-11DF-3C38-F589B375D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198" y="5105665"/>
            <a:ext cx="8916644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36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B17023-5673-A558-AED2-DA3B35769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Data - Metabolomics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E907355-39FE-130D-43C2-E7D4C79CC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Serum metabolomics</a:t>
            </a:r>
          </a:p>
          <a:p>
            <a:pPr lvl="1" algn="l" rt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FE6CCD-B64A-023D-909C-55C6C75EA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841" y="3833853"/>
            <a:ext cx="8945223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19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CE46F0-55BB-F202-B8F0-8F788922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Agenda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26A06F1-D6B9-533D-A090-305DA90B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Project description</a:t>
            </a:r>
          </a:p>
          <a:p>
            <a:pPr algn="l" rtl="0"/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Project data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Submission guidelines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Milestones</a:t>
            </a:r>
          </a:p>
          <a:p>
            <a:pPr algn="l" rtl="0"/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Evaluation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28258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F95E75B-F065-0078-E238-AA7A3E6E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Final Submission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8C34B20-BB44-BACC-3CDC-EFFCB0BFC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A detailed pdf document describing the problem, the pipeline, validation and validation results and possible future directions</a:t>
            </a:r>
          </a:p>
          <a:p>
            <a:pPr lvl="1" algn="l" rtl="0"/>
            <a:r>
              <a:rPr lang="en-US" dirty="0"/>
              <a:t>In a form of a scientific paper </a:t>
            </a:r>
          </a:p>
          <a:p>
            <a:pPr lvl="1" algn="l" rtl="0"/>
            <a:r>
              <a:rPr lang="en-US" dirty="0"/>
              <a:t>4-5 pages at most</a:t>
            </a:r>
          </a:p>
          <a:p>
            <a:pPr lvl="1" algn="l" rtl="0"/>
            <a:r>
              <a:rPr lang="en-US" dirty="0"/>
              <a:t>Adding figures (using matplotlib\seaborn\</a:t>
            </a:r>
            <a:r>
              <a:rPr lang="en-US" dirty="0" err="1"/>
              <a:t>plotly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…) is strongly encouraged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Code (</a:t>
            </a:r>
            <a:r>
              <a:rPr lang="en-US" dirty="0" err="1"/>
              <a:t>Github</a:t>
            </a:r>
            <a:r>
              <a:rPr lang="en-US" dirty="0"/>
              <a:t> link is ok)</a:t>
            </a:r>
          </a:p>
        </p:txBody>
      </p:sp>
    </p:spTree>
    <p:extLst>
      <p:ext uri="{BB962C8B-B14F-4D97-AF65-F5344CB8AC3E}">
        <p14:creationId xmlns:p14="http://schemas.microsoft.com/office/powerpoint/2010/main" val="4102360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CE46F0-55BB-F202-B8F0-8F788922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Agenda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26A06F1-D6B9-533D-A090-305DA90B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Project description</a:t>
            </a:r>
          </a:p>
          <a:p>
            <a:pPr algn="l" rtl="0"/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Project data</a:t>
            </a:r>
          </a:p>
          <a:p>
            <a:pPr algn="l" rtl="0"/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Submission guidelines</a:t>
            </a:r>
          </a:p>
          <a:p>
            <a:pPr algn="l" rtl="0"/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algn="l" rtl="0"/>
            <a:r>
              <a:rPr lang="en-US" dirty="0"/>
              <a:t>Milestones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Evaluation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59358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ECA9813-7F6A-5812-984E-1CCD5F3B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Milestones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5DA2F6A-40C4-E1B7-9CD9-34E3C0E76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Three milestones during the course</a:t>
            </a:r>
          </a:p>
          <a:p>
            <a:pPr lvl="1" algn="l" rtl="0"/>
            <a:r>
              <a:rPr lang="en-US" dirty="0"/>
              <a:t>Coordinating via email</a:t>
            </a:r>
          </a:p>
          <a:p>
            <a:pPr lvl="1" algn="l" rtl="0"/>
            <a:endParaRPr lang="en-US" dirty="0"/>
          </a:p>
          <a:p>
            <a:pPr algn="l" rtl="0"/>
            <a:r>
              <a:rPr lang="en-US" dirty="0"/>
              <a:t>An opportunity for group discussions</a:t>
            </a:r>
          </a:p>
          <a:p>
            <a:pPr lvl="1" algn="l" rtl="0"/>
            <a:r>
              <a:rPr lang="en-US" dirty="0"/>
              <a:t>A short presentation that summarizes your progress and plans</a:t>
            </a:r>
          </a:p>
          <a:p>
            <a:pPr lvl="1" algn="l" rtl="0"/>
            <a:r>
              <a:rPr lang="en-US" dirty="0"/>
              <a:t>Please send the presentations in advance</a:t>
            </a:r>
          </a:p>
          <a:p>
            <a:pPr lvl="1" algn="l" rtl="0"/>
            <a:endParaRPr lang="en-US" dirty="0"/>
          </a:p>
          <a:p>
            <a:pPr algn="l" rtl="0"/>
            <a:r>
              <a:rPr lang="en-US" dirty="0"/>
              <a:t>We will be happy to conduct more meetings according to your requests and needs</a:t>
            </a:r>
          </a:p>
          <a:p>
            <a:pPr lvl="1"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85717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ECA9813-7F6A-5812-984E-1CCD5F3B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Milestone 1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5DA2F6A-40C4-E1B7-9CD9-34E3C0E76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5487"/>
          </a:xfrm>
        </p:spPr>
        <p:txBody>
          <a:bodyPr>
            <a:normAutofit fontScale="55000" lnSpcReduction="20000"/>
          </a:bodyPr>
          <a:lstStyle/>
          <a:p>
            <a:pPr algn="l" rtl="0"/>
            <a:r>
              <a:rPr lang="en-US" dirty="0"/>
              <a:t>Deadline 1/7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Ideas for the ML pipeline (preprocessing, ML models, evaluation plan)</a:t>
            </a:r>
          </a:p>
          <a:p>
            <a:pPr lvl="1" algn="l" rtl="0"/>
            <a:r>
              <a:rPr lang="en-US" dirty="0"/>
              <a:t>Including an overview of the computational method or </a:t>
            </a:r>
            <a:r>
              <a:rPr lang="en-US"/>
              <a:t>a concept you </a:t>
            </a:r>
            <a:r>
              <a:rPr lang="en-US" dirty="0"/>
              <a:t>choose to explore</a:t>
            </a:r>
          </a:p>
          <a:p>
            <a:pPr lvl="2" algn="l" rtl="0"/>
            <a:r>
              <a:rPr lang="en-US" dirty="0"/>
              <a:t>Based on a computational\computational biology paper\blog post</a:t>
            </a:r>
          </a:p>
          <a:p>
            <a:pPr lvl="2" algn="l" rtl="0"/>
            <a:r>
              <a:rPr lang="en-US" dirty="0"/>
              <a:t>Any stage of the pipeline</a:t>
            </a:r>
          </a:p>
          <a:p>
            <a:pPr lvl="2" algn="l" rtl="0"/>
            <a:r>
              <a:rPr lang="en-US" dirty="0"/>
              <a:t>In Moodle:</a:t>
            </a:r>
          </a:p>
          <a:p>
            <a:pPr lvl="3" algn="l" rtl="0"/>
            <a:r>
              <a:rPr lang="en-US" dirty="0"/>
              <a:t>options and ideas</a:t>
            </a:r>
          </a:p>
          <a:p>
            <a:pPr lvl="3" algn="l" rtl="0"/>
            <a:r>
              <a:rPr lang="en-US" dirty="0"/>
              <a:t>Guiding questions</a:t>
            </a:r>
          </a:p>
          <a:p>
            <a:pPr marL="0" indent="0" algn="l" rtl="0">
              <a:buNone/>
            </a:pPr>
            <a:endParaRPr lang="en-US" dirty="0"/>
          </a:p>
          <a:p>
            <a:pPr algn="l" rtl="0"/>
            <a:r>
              <a:rPr lang="en-US" dirty="0"/>
              <a:t>preliminary exploration results if relevant</a:t>
            </a:r>
          </a:p>
          <a:p>
            <a:pPr lvl="1" algn="l" rtl="0"/>
            <a:r>
              <a:rPr lang="en-US" dirty="0"/>
              <a:t>Only meaningful results, i.e.:</a:t>
            </a:r>
          </a:p>
          <a:p>
            <a:pPr lvl="2" algn="l" rtl="0"/>
            <a:r>
              <a:rPr lang="en-US" dirty="0"/>
              <a:t>If it is relevant to your pipeline and ideas</a:t>
            </a:r>
          </a:p>
          <a:p>
            <a:pPr lvl="2" algn="l" rtl="0"/>
            <a:r>
              <a:rPr lang="en-US" dirty="0"/>
              <a:t>Any problems you think you need to handle</a:t>
            </a:r>
          </a:p>
          <a:p>
            <a:pPr lvl="1" algn="l" rtl="0"/>
            <a:r>
              <a:rPr lang="en-US" dirty="0"/>
              <a:t>See guidelines in Moodle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Naïve modeling as a benchmark</a:t>
            </a:r>
          </a:p>
          <a:p>
            <a:pPr lvl="1" algn="l" rtl="0"/>
            <a:r>
              <a:rPr lang="en-US" dirty="0"/>
              <a:t>Predicting missing omics using KNN\RF</a:t>
            </a:r>
          </a:p>
          <a:p>
            <a:pPr lvl="1" algn="l" rtl="0"/>
            <a:r>
              <a:rPr lang="en-US" dirty="0"/>
              <a:t>Evaluation:</a:t>
            </a:r>
          </a:p>
          <a:p>
            <a:pPr lvl="2" algn="l" rtl="0"/>
            <a:r>
              <a:rPr lang="en-US" dirty="0"/>
              <a:t>Mask and recover</a:t>
            </a:r>
          </a:p>
          <a:p>
            <a:pPr lvl="2" algn="l" rtl="0"/>
            <a:r>
              <a:rPr lang="en-US" dirty="0"/>
              <a:t>How good is predicting disease state with\without imputation?</a:t>
            </a:r>
          </a:p>
        </p:txBody>
      </p:sp>
    </p:spTree>
    <p:extLst>
      <p:ext uri="{BB962C8B-B14F-4D97-AF65-F5344CB8AC3E}">
        <p14:creationId xmlns:p14="http://schemas.microsoft.com/office/powerpoint/2010/main" val="4094151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1C5F5-57E7-0CA5-5FD8-71BB55E0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8A6D6BC-2909-BEBC-6992-799BAFF28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Milestone 2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D483350-687D-A6F0-9E39-B3D09259D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5487"/>
          </a:xfrm>
        </p:spPr>
        <p:txBody>
          <a:bodyPr>
            <a:normAutofit/>
          </a:bodyPr>
          <a:lstStyle/>
          <a:p>
            <a:pPr algn="l" rtl="0"/>
            <a:r>
              <a:rPr lang="en-US" dirty="0"/>
              <a:t>deadline 10/9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Presenting the pipeline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Preliminary pipeline results</a:t>
            </a:r>
          </a:p>
          <a:p>
            <a:pPr lvl="1" algn="l" rtl="0"/>
            <a:r>
              <a:rPr lang="en-US" dirty="0"/>
              <a:t>Evaluation</a:t>
            </a:r>
          </a:p>
          <a:p>
            <a:pPr lvl="2" algn="l" rtl="0"/>
            <a:r>
              <a:rPr lang="en-US" dirty="0"/>
              <a:t>Comparison to milestone 1 naïve modeling (performance and running time)</a:t>
            </a:r>
          </a:p>
          <a:p>
            <a:pPr lvl="1" algn="l" rtl="0"/>
            <a:r>
              <a:rPr lang="en-US" dirty="0"/>
              <a:t>How the missing data percentage effects the pipeline performance?</a:t>
            </a:r>
          </a:p>
          <a:p>
            <a:pPr lvl="1" algn="l" rtl="0"/>
            <a:endParaRPr lang="en-US" dirty="0"/>
          </a:p>
          <a:p>
            <a:pPr marL="0" indent="0" algn="l" rt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624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16B36-1BCA-D053-59C8-9CBAE21F8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BCC559-9F62-E39C-4577-B846358E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Milestone 3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C45AAFB-E70D-6638-0756-F3FF29B01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462486" cy="4785487"/>
          </a:xfrm>
        </p:spPr>
        <p:txBody>
          <a:bodyPr>
            <a:normAutofit fontScale="85000" lnSpcReduction="10000"/>
          </a:bodyPr>
          <a:lstStyle/>
          <a:p>
            <a:pPr algn="l" rtl="0"/>
            <a:r>
              <a:rPr lang="en-US" dirty="0"/>
              <a:t>deadline 15/10</a:t>
            </a:r>
          </a:p>
          <a:p>
            <a:pPr lvl="1" algn="l" rtl="0"/>
            <a:endParaRPr lang="en-US" dirty="0"/>
          </a:p>
          <a:p>
            <a:pPr algn="l" rtl="0"/>
            <a:r>
              <a:rPr lang="en-US" dirty="0"/>
              <a:t>Presenting the final results (pipeline, validation and possible future directions)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Before the meeting:</a:t>
            </a:r>
          </a:p>
          <a:p>
            <a:pPr lvl="1" algn="l" rtl="0"/>
            <a:r>
              <a:rPr lang="en-US" dirty="0"/>
              <a:t>We will send you two additional microbiome-metabolome datasets</a:t>
            </a:r>
          </a:p>
          <a:p>
            <a:pPr lvl="1" algn="l" rtl="0"/>
            <a:r>
              <a:rPr lang="en-US" dirty="0"/>
              <a:t>You will send us your results on the </a:t>
            </a:r>
            <a:r>
              <a:rPr lang="en-US" dirty="0" err="1"/>
              <a:t>MetaCardis</a:t>
            </a:r>
            <a:r>
              <a:rPr lang="en-US" dirty="0"/>
              <a:t> dataset, as well as the additional datasets – at least 3 days in advance</a:t>
            </a:r>
          </a:p>
          <a:p>
            <a:pPr lvl="2" algn="l" rtl="0"/>
            <a:r>
              <a:rPr lang="en-US" dirty="0"/>
              <a:t>See guidelines in Moodle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We will present your pipeline results on our data</a:t>
            </a:r>
          </a:p>
          <a:p>
            <a:pPr lvl="1" algn="l" rtl="0"/>
            <a:endParaRPr lang="en-US" dirty="0"/>
          </a:p>
          <a:p>
            <a:pPr lvl="2" algn="l" rtl="0"/>
            <a:endParaRPr lang="en-US" dirty="0"/>
          </a:p>
          <a:p>
            <a:pPr lvl="1"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A0C53-3A52-217D-9691-5D522BAF7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686" y="3429000"/>
            <a:ext cx="4601632" cy="210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13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CE46F0-55BB-F202-B8F0-8F788922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Agenda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26A06F1-D6B9-533D-A090-305DA90B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Project description</a:t>
            </a:r>
          </a:p>
          <a:p>
            <a:pPr algn="l" rtl="0"/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Project data</a:t>
            </a:r>
          </a:p>
          <a:p>
            <a:pPr algn="l" rtl="0"/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Submission guidelines</a:t>
            </a:r>
          </a:p>
          <a:p>
            <a:pPr algn="l" rtl="0"/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algn="l" rtl="0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Milestones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Evaluation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40692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2F390A4-3E3B-3096-0DDA-A9964C83D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Evaluation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CA1A175-2EA0-C92C-EACA-344BFF2D0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02714" cy="4351338"/>
          </a:xfrm>
        </p:spPr>
        <p:txBody>
          <a:bodyPr>
            <a:normAutofit fontScale="92500" lnSpcReduction="10000"/>
          </a:bodyPr>
          <a:lstStyle/>
          <a:p>
            <a:pPr algn="l" rtl="0"/>
            <a:r>
              <a:rPr lang="en-US" dirty="0"/>
              <a:t>We construct a reference ("ground truth") distance matrix as follows:</a:t>
            </a:r>
          </a:p>
          <a:p>
            <a:pPr lvl="1" algn="l" rtl="0"/>
            <a:r>
              <a:rPr lang="en-US" dirty="0"/>
              <a:t>Normalizing each microbiome and metabolome feature using standard scaler</a:t>
            </a:r>
          </a:p>
          <a:p>
            <a:pPr lvl="1" algn="l" rtl="0"/>
            <a:r>
              <a:rPr lang="en-US" dirty="0"/>
              <a:t>Perform PCA on the combined normalized data</a:t>
            </a:r>
          </a:p>
          <a:p>
            <a:pPr lvl="1" algn="l" rtl="0"/>
            <a:r>
              <a:rPr lang="en-US" dirty="0"/>
              <a:t>Calculate the Euclidean distances between samples in the first two principal components (2D PCA space)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We compare your predicted distance matrix to our ground truth matrix</a:t>
            </a:r>
          </a:p>
          <a:p>
            <a:pPr lvl="1" algn="l" rtl="0"/>
            <a:r>
              <a:rPr lang="en-US" dirty="0"/>
              <a:t>Using a Mantel test between your predicted distance matrix and our ground truth distance matrix. </a:t>
            </a:r>
          </a:p>
          <a:p>
            <a:pPr algn="l" rtl="0"/>
            <a:endParaRPr lang="en-US" dirty="0"/>
          </a:p>
          <a:p>
            <a:pPr algn="l" rtl="0"/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1A5FEF-CB59-1CA5-5253-2F55D672A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67"/>
          <a:stretch>
            <a:fillRect/>
          </a:stretch>
        </p:blipFill>
        <p:spPr>
          <a:xfrm>
            <a:off x="8749672" y="3429000"/>
            <a:ext cx="3147020" cy="107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63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06287-2E6D-965A-CAB9-025ACD4EF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Final grade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5BCB1-844F-0E2A-99DC-C20D07530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 rtl="0"/>
            <a:r>
              <a:rPr lang="en-US" dirty="0"/>
              <a:t>Model performance</a:t>
            </a:r>
          </a:p>
          <a:p>
            <a:pPr algn="l" rtl="0"/>
            <a:r>
              <a:rPr lang="en-US" dirty="0"/>
              <a:t>Milestone meetings</a:t>
            </a:r>
          </a:p>
          <a:p>
            <a:pPr algn="l" rtl="0"/>
            <a:r>
              <a:rPr lang="en-US" dirty="0"/>
              <a:t>Overall quality of the final project</a:t>
            </a:r>
          </a:p>
          <a:p>
            <a:pPr algn="l" rtl="0"/>
            <a:r>
              <a:rPr lang="en-US" dirty="0"/>
              <a:t>Creativity and research effort will be rewarded</a:t>
            </a:r>
          </a:p>
          <a:p>
            <a:pPr lvl="1" algn="l" rtl="0"/>
            <a:r>
              <a:rPr lang="en-US" dirty="0"/>
              <a:t>Grades 96–100 are reserved for:</a:t>
            </a:r>
          </a:p>
          <a:p>
            <a:pPr lvl="2" algn="l" rtl="0"/>
            <a:r>
              <a:rPr lang="en-US" dirty="0"/>
              <a:t>Exceptional effort</a:t>
            </a:r>
          </a:p>
          <a:p>
            <a:pPr lvl="2" algn="l" rtl="0"/>
            <a:r>
              <a:rPr lang="en-US" dirty="0"/>
              <a:t>Innovative ideas</a:t>
            </a:r>
          </a:p>
          <a:p>
            <a:pPr lvl="2" algn="l" rtl="0"/>
            <a:r>
              <a:rPr lang="en-US" dirty="0"/>
              <a:t>Particularly rigorous research</a:t>
            </a:r>
          </a:p>
          <a:p>
            <a:pPr algn="l" rtl="0"/>
            <a:endParaRPr lang="en-US" dirty="0"/>
          </a:p>
          <a:p>
            <a:pPr algn="l" rtl="0"/>
            <a:r>
              <a:rPr lang="en-US" b="1" dirty="0"/>
              <a:t>Creativity is preferred over pure performance </a:t>
            </a:r>
          </a:p>
          <a:p>
            <a:pPr lvl="1" algn="l" rtl="0"/>
            <a:r>
              <a:rPr lang="en-US" dirty="0"/>
              <a:t>a highly creative and well-justified approach can be valued more than a marginal performance improvement</a:t>
            </a:r>
          </a:p>
          <a:p>
            <a:pPr lvl="1" algn="l" rtl="0"/>
            <a:r>
              <a:rPr lang="en-US" dirty="0"/>
              <a:t>Meaningful, well-reasoned ideas, not arbitrary or unreasonable modifications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76741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17734F-1160-CCBB-3BB3-9EDE2CDB3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Questions?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F073698-BDD9-0C80-F435-31CD6449A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Detailed instructions in Moodle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3285383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10368</TotalTime>
  <Words>777</Words>
  <Application>Microsoft Office PowerPoint</Application>
  <PresentationFormat>Widescreen</PresentationFormat>
  <Paragraphs>188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ערכת נושא Office</vt:lpstr>
      <vt:lpstr>Final Project</vt:lpstr>
      <vt:lpstr>Agenda</vt:lpstr>
      <vt:lpstr>Agenda</vt:lpstr>
      <vt:lpstr>Goal</vt:lpstr>
      <vt:lpstr>Description </vt:lpstr>
      <vt:lpstr>Naïve solutions</vt:lpstr>
      <vt:lpstr>Agenda</vt:lpstr>
      <vt:lpstr>Data – General Description</vt:lpstr>
      <vt:lpstr>MetaCardis - Metadata</vt:lpstr>
      <vt:lpstr>Stool Metagenomic Data</vt:lpstr>
      <vt:lpstr>Data - Metabolomics</vt:lpstr>
      <vt:lpstr>Agenda</vt:lpstr>
      <vt:lpstr>Final Submission</vt:lpstr>
      <vt:lpstr>Agenda</vt:lpstr>
      <vt:lpstr>Milestones</vt:lpstr>
      <vt:lpstr>Milestone 1</vt:lpstr>
      <vt:lpstr>Milestone 2</vt:lpstr>
      <vt:lpstr>Milestone 3</vt:lpstr>
      <vt:lpstr>Agenda</vt:lpstr>
      <vt:lpstr>Evaluation</vt:lpstr>
      <vt:lpstr>Final grade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Omri Peleg</dc:creator>
  <cp:lastModifiedBy>Omri Peleg</cp:lastModifiedBy>
  <cp:revision>99</cp:revision>
  <dcterms:created xsi:type="dcterms:W3CDTF">2023-03-26T12:24:38Z</dcterms:created>
  <dcterms:modified xsi:type="dcterms:W3CDTF">2026-05-12T12:34:07Z</dcterms:modified>
</cp:coreProperties>
</file>