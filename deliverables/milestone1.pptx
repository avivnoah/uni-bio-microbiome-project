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82880" y="-365760"/>
            <a:ext cx="54864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554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MULTI-OMICS · MISSING-MODALITY DISTANCES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89611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A0A0A"/>
                </a:solidFill>
                <a:latin typeface="Space Grotesk"/>
              </a:rPr>
              <a:t>Estimating sample distances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A0A0A"/>
                </a:solidFill>
                <a:latin typeface="Space Grotesk"/>
              </a:rPr>
              <a:t>across multi-omics,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2D55"/>
                </a:solidFill>
                <a:latin typeface="Space Grotesk"/>
              </a:rPr>
              <a:t>under missing modalities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00600"/>
            <a:ext cx="1051560" cy="4572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80">
                <a:solidFill>
                  <a:srgbClr val="6B6863"/>
                </a:solidFill>
                <a:latin typeface="JetBrains Mono"/>
              </a:rPr>
              <a:t>Group ____________   ·   MetaCardis cohort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THE PROBLEM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02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WHAT WE ARE ACTUALLY ASKED TO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20240"/>
            <a:ext cx="9692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0A0A0A"/>
                </a:solidFill>
                <a:latin typeface="Space Grotesk"/>
              </a:rPr>
              <a:t>A sample×sample </a:t>
            </a:r>
            <a:r>
              <a:rPr sz="3000" b="1" i="0">
                <a:solidFill>
                  <a:srgbClr val="FF2D55"/>
                </a:solidFill>
                <a:latin typeface="Space Grotesk"/>
              </a:rPr>
              <a:t>distance matrix</a:t>
            </a:r>
            <a:r>
              <a:rPr sz="3000" b="0" i="0">
                <a:solidFill>
                  <a:srgbClr val="0A0A0A"/>
                </a:solidFill>
                <a:latin typeface="Space Grotesk"/>
              </a:rPr>
              <a:t> from two omics — that holds up when an entire modality is </a:t>
            </a:r>
            <a:r>
              <a:rPr sz="3000" b="1" i="0">
                <a:solidFill>
                  <a:srgbClr val="FF2D55"/>
                </a:solidFill>
                <a:latin typeface="Space Grotesk"/>
              </a:rPr>
              <a:t>missing</a:t>
            </a:r>
            <a:r>
              <a:rPr sz="3000" b="0" i="0">
                <a:solidFill>
                  <a:srgbClr val="0A0A0A"/>
                </a:solidFill>
                <a:latin typeface="Space Grotes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10241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C1B19"/>
                </a:solidFill>
                <a:latin typeface="Space Grotesk"/>
              </a:rPr>
              <a:t>Graded by </a:t>
            </a:r>
            <a:r>
              <a:rPr sz="1500" b="1" i="0">
                <a:solidFill>
                  <a:srgbClr val="1C1B19"/>
                </a:solidFill>
                <a:latin typeface="Space Grotesk"/>
              </a:rPr>
              <a:t>Mantel test</a:t>
            </a:r>
            <a:r>
              <a:rPr sz="1500" b="0" i="0">
                <a:solidFill>
                  <a:srgbClr val="1C1B19"/>
                </a:solidFill>
                <a:latin typeface="Space Grotesk"/>
              </a:rPr>
              <a:t> vs. ground truth: standardise all features → PCA → Euclidean in the first 2 PCs. The target geometry is linear.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C1B19"/>
                </a:solidFill>
                <a:latin typeface="Space Grotesk"/>
              </a:rPr>
              <a:t>With both modalities present that target is trivially recomputable — so the whole problem lives in the </a:t>
            </a:r>
            <a:r>
              <a:rPr sz="1500" b="1" i="0">
                <a:solidFill>
                  <a:srgbClr val="FF2D55"/>
                </a:solidFill>
                <a:latin typeface="Space Grotesk"/>
              </a:rPr>
              <a:t>missing-modality regime</a:t>
            </a:r>
            <a:r>
              <a:rPr sz="1500" b="0" i="0">
                <a:solidFill>
                  <a:srgbClr val="1C1B19"/>
                </a:solidFill>
                <a:latin typeface="Space Grotesk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EXPLORATION / DATA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03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058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THE DATA ALREADY CONTAINS THE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716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A0A0A"/>
                </a:solidFill>
                <a:latin typeface="Space Grotesk"/>
              </a:rPr>
              <a:t>~40% of subjects are missing a whole modality</a:t>
            </a:r>
          </a:p>
        </p:txBody>
      </p:sp>
      <p:pic>
        <p:nvPicPr>
          <p:cNvPr id="11" name="Picture 10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40280"/>
            <a:ext cx="10634472" cy="265861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777240" y="5257800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54406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A0A0A"/>
                </a:solidFill>
                <a:latin typeface="Space Grotesk"/>
              </a:rPr>
              <a:t>1042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53912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6B6863"/>
                </a:solidFill>
                <a:latin typeface="JetBrains Mono"/>
              </a:rPr>
              <a:t>BOTH 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4406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A0A0A"/>
                </a:solidFill>
                <a:latin typeface="Space Grotesk"/>
              </a:rPr>
              <a:t>348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6153912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6B6863"/>
                </a:solidFill>
                <a:latin typeface="JetBrains Mono"/>
              </a:rPr>
              <a:t>MICROBIOME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4406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A0A0A"/>
                </a:solidFill>
                <a:latin typeface="Space Grotesk"/>
              </a:rPr>
              <a:t>348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6153912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6B6863"/>
                </a:solidFill>
                <a:latin typeface="JetBrains Mono"/>
              </a:rPr>
              <a:t>METABOLOME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4406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A0A0A"/>
                </a:solidFill>
                <a:latin typeface="Space Grotesk"/>
              </a:rPr>
              <a:t>528</a:t>
            </a:r>
            <a:r>
              <a:rPr sz="4000" b="1" i="0">
                <a:solidFill>
                  <a:srgbClr val="FF2D55"/>
                </a:solidFill>
                <a:latin typeface="Space Grotesk"/>
              </a:rPr>
              <a:t> → </a:t>
            </a:r>
            <a:r>
              <a:rPr sz="4000" b="1" i="0">
                <a:solidFill>
                  <a:srgbClr val="0A0A0A"/>
                </a:solidFill>
                <a:latin typeface="Space Grotesk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6153912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6B6863"/>
                </a:solidFill>
                <a:latin typeface="JetBrains Mono"/>
              </a:rPr>
              <a:t>T2D → CHF (IMBALANCE)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EXPLORATION / CONFOUNDERS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04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DEMOGRAPHICS DIFFER SHARPLY BETWEEN DISEASE GROUPS</a:t>
            </a:r>
          </a:p>
        </p:txBody>
      </p:sp>
      <p:pic>
        <p:nvPicPr>
          <p:cNvPr id="10" name="Picture 9" descr="10_age_bmi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10634472" cy="36866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60">
                <a:solidFill>
                  <a:srgbClr val="6B6863"/>
                </a:solidFill>
                <a:latin typeface="JetBrains Mono"/>
              </a:rPr>
              <a:t>OBESITY 2A/2B — YOUNGEST, BMI &gt; 40 · DIABETES/CVD 3–6 — OLDER (~60) · AGE &amp; BMI ARE PRIME CONFOUNDERS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EXPLORATION / BATCH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05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RECRUITMENT CENTER IS A CONFOUNDER, NOT NOISE</a:t>
            </a:r>
          </a:p>
        </p:txBody>
      </p:sp>
      <p:pic>
        <p:nvPicPr>
          <p:cNvPr id="11" name="Picture 10" descr="12_country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126480" cy="31857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82880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2D55"/>
                </a:solidFill>
                <a:latin typeface="Space Grotesk"/>
              </a:rPr>
              <a:t>8.84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542032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6B6863"/>
                </a:solidFill>
                <a:latin typeface="JetBrains Mono"/>
              </a:rPr>
              <a:t>PERMANOVA F · CENTER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06640" y="2880360"/>
            <a:ext cx="3291840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06640" y="301752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2D55"/>
                </a:solidFill>
                <a:latin typeface="Space Grotesk"/>
              </a:rPr>
              <a:t>3.72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730752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6B6863"/>
                </a:solidFill>
                <a:latin typeface="JetBrains Mono"/>
              </a:rPr>
              <a:t>PERMANOVA F · DISEASE GROUP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4160520"/>
            <a:ext cx="411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C1B19"/>
                </a:solidFill>
                <a:latin typeface="Space Grotesk"/>
              </a:rPr>
              <a:t>Groups are country-skewed (2b≈German, 7≈French, 4 no-Germany) and </a:t>
            </a:r>
            <a:r>
              <a:rPr sz="1300" b="1" i="0">
                <a:solidFill>
                  <a:srgbClr val="FF2D55"/>
                </a:solidFill>
                <a:latin typeface="Space Grotesk"/>
              </a:rPr>
              <a:t>CENTER structures the microbiome more than disease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. Denmark is 100% missing demographics (MNAR).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EXPLORATION / WHAT PREDICTS DISEASE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06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BASIC DEMOGRAPHICS PREDICT THE DISEASE BETTER THAN THE OMICS</a:t>
            </a:r>
          </a:p>
        </p:txBody>
      </p:sp>
      <p:pic>
        <p:nvPicPr>
          <p:cNvPr id="11" name="Picture 10" descr="14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6035040" cy="3352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0" y="1828800"/>
            <a:ext cx="4114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2D55"/>
                </a:solidFill>
                <a:latin typeface="Space Grotesk"/>
              </a:rPr>
              <a:t>0.34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542032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6B6863"/>
                </a:solidFill>
                <a:latin typeface="JetBrains Mono"/>
              </a:rPr>
              <a:t>METADATA-ONLY RF · 5-FOLD CV · BAL-ACC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108960"/>
            <a:ext cx="42062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C1B19"/>
                </a:solidFill>
                <a:latin typeface="Space Grotesk"/>
              </a:rPr>
              <a:t>Random Forest, 5-fold cross-validation, guessing the disease group (1 of 9). Same model, three inputs: metadata-only </a:t>
            </a:r>
            <a:r>
              <a:rPr sz="1350" b="1" i="0">
                <a:solidFill>
                  <a:srgbClr val="1C1B19"/>
                </a:solidFill>
                <a:latin typeface="Space Grotesk"/>
              </a:rPr>
              <a:t>0.34</a:t>
            </a:r>
            <a:r>
              <a:rPr sz="1350" b="0" i="0">
                <a:solidFill>
                  <a:srgbClr val="1C1B19"/>
                </a:solidFill>
                <a:latin typeface="Space Grotesk"/>
              </a:rPr>
              <a:t> · both-omics </a:t>
            </a:r>
            <a:r>
              <a:rPr sz="1350" b="1" i="0">
                <a:solidFill>
                  <a:srgbClr val="1C1B19"/>
                </a:solidFill>
                <a:latin typeface="Space Grotesk"/>
              </a:rPr>
              <a:t>0.26</a:t>
            </a:r>
            <a:r>
              <a:rPr sz="1350" b="0" i="0">
                <a:solidFill>
                  <a:srgbClr val="1C1B19"/>
                </a:solidFill>
                <a:latin typeface="Space Grotesk"/>
              </a:rPr>
              <a:t> · microbiome-only </a:t>
            </a:r>
            <a:r>
              <a:rPr sz="1350" b="1" i="0">
                <a:solidFill>
                  <a:srgbClr val="1C1B19"/>
                </a:solidFill>
                <a:latin typeface="Space Grotesk"/>
              </a:rPr>
              <a:t>0.191</a:t>
            </a:r>
            <a:r>
              <a:rPr sz="1350" b="0" i="0">
                <a:solidFill>
                  <a:srgbClr val="1C1B19"/>
                </a:solidFill>
                <a:latin typeface="Space Grotesk"/>
              </a:rPr>
              <a:t> (chance≈0.11).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FF2D55"/>
                </a:solidFill>
                <a:latin typeface="Space Grotesk"/>
              </a:rPr>
              <a:t>BMI (0.653) and age (0.287) dominate</a:t>
            </a:r>
            <a:r>
              <a:rPr sz="1350" b="0" i="0">
                <a:solidFill>
                  <a:srgbClr val="1C1B19"/>
                </a:solidFill>
                <a:latin typeface="Space Grotesk"/>
              </a:rPr>
              <a:t> — the disease signal in the omics is weak and distributed, so distances (not labels) are the right target.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6863"/>
                </a:solidFill>
                <a:latin typeface="Space Grotesk"/>
              </a:rPr>
              <a:t>Spec check — does imputing a missing omics help prediction? </a:t>
            </a:r>
            <a:r>
              <a:rPr sz="1200" b="0" i="0">
                <a:solidFill>
                  <a:srgbClr val="6B6863"/>
                </a:solidFill>
                <a:latin typeface="Space Grotesk"/>
              </a:rPr>
              <a:t>No: microbiome alone 0.191, + an imputed metabolome 0.183, + the real metabolome 0.26.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EXPLORATION / MICROBIOME MAP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07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DISEASE GROUPS DON'T FORM CLEAN CLUSTERS ON THE MICROBIOME MAP</a:t>
            </a:r>
          </a:p>
        </p:txBody>
      </p:sp>
      <p:pic>
        <p:nvPicPr>
          <p:cNvPr id="11" name="Picture 10" descr="04b_microbiome_pcoa_dis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525589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1783080"/>
            <a:ext cx="374903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2D55"/>
                </a:solidFill>
                <a:latin typeface="Space Grotesk"/>
              </a:rPr>
              <a:t>38%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496312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6B6863"/>
                </a:solidFill>
                <a:latin typeface="JetBrains Mono"/>
              </a:rPr>
              <a:t>OF PATIENT DIFFERENCES VISIBLE IN THIS FLAT MAP · REST HIDDEN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88036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80">
                <a:solidFill>
                  <a:srgbClr val="6B6863"/>
                </a:solidFill>
                <a:latin typeface="JetBrains Mono"/>
              </a:rPr>
              <a:t>PCOA (AITCHISON) · PC1 25% · PC2 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291840"/>
            <a:ext cx="3749039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C1B19"/>
                </a:solidFill>
                <a:latin typeface="Space Grotesk"/>
              </a:rPr>
              <a:t>Disease colours are mixed everywhere — </a:t>
            </a:r>
            <a:r>
              <a:rPr sz="1350" b="1" i="0">
                <a:solidFill>
                  <a:srgbClr val="FF2D55"/>
                </a:solidFill>
                <a:latin typeface="Space Grotesk"/>
              </a:rPr>
              <a:t>no clean clusters</a:t>
            </a:r>
            <a:r>
              <a:rPr sz="1350" b="0" i="0">
                <a:solidFill>
                  <a:srgbClr val="1C1B19"/>
                </a:solidFill>
                <a:latin typeface="Space Grotesk"/>
              </a:rPr>
              <a:t>, so we place patients by distance, not predict a label. The 2 axes capture only 25%/14%; structure is high-dimensional.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6863"/>
                </a:solidFill>
                <a:latin typeface="Space Grotesk"/>
              </a:rPr>
              <a:t>Country also shapes this map; we judge that with the df-adjusted PERMANOVA on slide 05, not by eye.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EXPLORATION / DIFFERENTIAL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08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051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BOTH OMICS CARRY DISEASE SIGNAL — AT DIFFERENT SCALES</a:t>
            </a:r>
          </a:p>
        </p:txBody>
      </p:sp>
      <p:pic>
        <p:nvPicPr>
          <p:cNvPr id="10" name="Picture 9" descr="15_diff_per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10634472" cy="36866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60">
                <a:solidFill>
                  <a:srgbClr val="6B6863"/>
                </a:solidFill>
                <a:latin typeface="JetBrains Mono"/>
              </a:rPr>
              <a:t>VS. CONTROL, FDR&lt;0.05 · UP TO 131 SPECIES AND 77 METABOLITES DIFFER · METABOLOME SHIFTS ARE BROAD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09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EXPLORATION / COUPLING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09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CROSS-OMICS COUPLING IS WEAK — THIS CAPS IMPUTATION</a:t>
            </a:r>
          </a:p>
        </p:txBody>
      </p:sp>
      <p:pic>
        <p:nvPicPr>
          <p:cNvPr id="11" name="Picture 10" descr="09_cross_omics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5730240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32320" y="1920240"/>
            <a:ext cx="4206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2D55"/>
                </a:solidFill>
                <a:latin typeface="Space Grotesk"/>
              </a:rPr>
              <a:t>0.382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63347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20">
                <a:solidFill>
                  <a:srgbClr val="6B6863"/>
                </a:solidFill>
                <a:latin typeface="JetBrains Mono"/>
              </a:rPr>
              <a:t>MAX |SPEARMAN| TAXA ↔ METABOLITE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200400"/>
            <a:ext cx="4206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C1B19"/>
                </a:solidFill>
                <a:latin typeface="Space Grotesk"/>
              </a:rPr>
              <a:t>Both partners find it independently (ρ &lt; 0.25 in the top pairs). Only a metabolite-specific subset is predictable from microbiome → cross-modal recovery has a </a:t>
            </a:r>
            <a:r>
              <a:rPr sz="1400" b="1" i="0">
                <a:solidFill>
                  <a:srgbClr val="FF2D55"/>
                </a:solidFill>
                <a:latin typeface="Space Grotesk"/>
              </a:rPr>
              <a:t>low ceiling</a:t>
            </a:r>
            <a:r>
              <a:rPr sz="1400" b="0" i="0">
                <a:solidFill>
                  <a:srgbClr val="1C1B19"/>
                </a:solidFill>
                <a:latin typeface="Space Grotesk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NAÏVE BASELINE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10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0515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MANDATORY BASELINE — DROP A WHOLE MODALITY, RECOVER, THEN MEASURE DISTANCES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63640" y="1554480"/>
            <a:ext cx="0" cy="329184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15544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 spc="120">
                <a:solidFill>
                  <a:srgbClr val="FF2D55"/>
                </a:solidFill>
                <a:latin typeface="JetBrains Mono"/>
              </a:rPr>
              <a:t>DROP WHOLE METABOLOME · RECOVER · MANTEL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1168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00">
                <a:solidFill>
                  <a:srgbClr val="6B6863"/>
                </a:solidFill>
                <a:latin typeface="JetBrains Mono"/>
              </a:rPr>
              <a:t>DROPPED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0116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00">
                <a:solidFill>
                  <a:srgbClr val="6B6863"/>
                </a:solidFill>
                <a:latin typeface="JetBrains Mono"/>
              </a:rPr>
              <a:t>MEAN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0116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00">
                <a:solidFill>
                  <a:srgbClr val="6B6863"/>
                </a:solidFill>
                <a:latin typeface="JetBrains Mono"/>
              </a:rPr>
              <a:t>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0116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00">
                <a:solidFill>
                  <a:srgbClr val="6B6863"/>
                </a:solidFill>
                <a:latin typeface="JetBrains Mono"/>
              </a:rPr>
              <a:t>KNN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0116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00">
                <a:solidFill>
                  <a:srgbClr val="6B6863"/>
                </a:solidFill>
                <a:latin typeface="JetBrains Mono"/>
              </a:rPr>
              <a:t>RF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77240" y="2322576"/>
            <a:ext cx="4800600" cy="0"/>
          </a:xfrm>
          <a:prstGeom prst="bentConnector3">
            <a:avLst/>
          </a:prstGeom>
          <a:ln w="2032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" y="2468880"/>
            <a:ext cx="1143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B6863"/>
                </a:solidFill>
                <a:latin typeface="JetBrains Mono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441448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2D55"/>
                </a:solidFill>
                <a:latin typeface="JetBrains Mono"/>
              </a:rPr>
              <a:t>0.957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441448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2D55"/>
                </a:solidFill>
                <a:latin typeface="JetBrains Mono"/>
              </a:rPr>
              <a:t>0.957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441448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A0A0A"/>
                </a:solidFill>
                <a:latin typeface="JetBrains Mono"/>
              </a:rPr>
              <a:t>0.956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441448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A0A0A"/>
                </a:solidFill>
                <a:latin typeface="JetBrains Mono"/>
              </a:rPr>
              <a:t>0.955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" y="2926080"/>
            <a:ext cx="4800600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77240" y="3035808"/>
            <a:ext cx="1143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B6863"/>
                </a:solidFill>
                <a:latin typeface="JetBrains Mono"/>
              </a:rPr>
              <a:t>30%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3008376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A0A0A"/>
                </a:solidFill>
                <a:latin typeface="JetBrains Mono"/>
              </a:rPr>
              <a:t>0.848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008376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A0A0A"/>
                </a:solidFill>
                <a:latin typeface="JetBrains Mono"/>
              </a:rPr>
              <a:t>0.848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008376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A0A0A"/>
                </a:solidFill>
                <a:latin typeface="JetBrains Mono"/>
              </a:rPr>
              <a:t>0.851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008376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2D55"/>
                </a:solidFill>
                <a:latin typeface="JetBrains Mono"/>
              </a:rPr>
              <a:t>0.852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77240" y="3493008"/>
            <a:ext cx="4800600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77240" y="3602736"/>
            <a:ext cx="1143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B6863"/>
                </a:solidFill>
                <a:latin typeface="JetBrains Mono"/>
              </a:rPr>
              <a:t>50%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5753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2D55"/>
                </a:solidFill>
                <a:latin typeface="JetBrains Mono"/>
              </a:rPr>
              <a:t>0.78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35753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A0A0A"/>
                </a:solidFill>
                <a:latin typeface="JetBrains Mono"/>
              </a:rPr>
              <a:t>0.779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35753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A0A0A"/>
                </a:solidFill>
                <a:latin typeface="JetBrains Mono"/>
              </a:rPr>
              <a:t>0.75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575304"/>
            <a:ext cx="914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A0A0A"/>
                </a:solidFill>
                <a:latin typeface="JetBrains Mono"/>
              </a:rPr>
              <a:t>0.771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7240" y="4059936"/>
            <a:ext cx="4800600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3977639"/>
            <a:ext cx="5212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6B6863"/>
                </a:solidFill>
                <a:latin typeface="Space Grotesk"/>
              </a:rPr>
              <a:t>Row = share whose whole metabolome we hid; column = how we rebuilt it; number = Mantel score (1 = identical to the true distances).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1783080"/>
            <a:ext cx="47548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C1B19"/>
                </a:solidFill>
                <a:latin typeface="Space Grotesk"/>
              </a:rPr>
              <a:t>All four </a:t>
            </a:r>
            <a:r>
              <a:rPr sz="1300" b="1" i="0">
                <a:solidFill>
                  <a:srgbClr val="FF2D55"/>
                </a:solidFill>
                <a:latin typeface="Space Grotesk"/>
              </a:rPr>
              <a:t>tie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 — once a whole metabolome is gone, the only way to rebuild it is from the microbiome, and the two are weakly linked (slide 09). So the clever fills add almost nothing over a plain mean; even mean clears ~0.77 at 50% missing.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6B6863"/>
                </a:solidFill>
                <a:latin typeface="Space Grotesk"/>
              </a:rPr>
              <a:t>The high score is misleading: at low missing-% most patients keep both omics, so most distances are still exact and dominate it (slide 09). It is not the discriminating number.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4406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0A0A0A"/>
                </a:solidFill>
                <a:latin typeface="Space Grotesk"/>
              </a:rPr>
              <a:t>How the distances are made: </a:t>
            </a:r>
            <a:r>
              <a:rPr sz="900" b="0" i="0">
                <a:solidFill>
                  <a:srgbClr val="1C1B19"/>
                </a:solidFill>
                <a:latin typeface="Space Grotesk"/>
              </a:rPr>
              <a:t>each matrix is n×n (one row/column per patient), built the grader's way (standardize both omics, PCA, Euclidean distance in the first 2 PCs). The Mantel test scores the rank correlation between our matrix and the true one, over every patient pair.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 spc="60">
                <a:solidFill>
                  <a:srgbClr val="6B6863"/>
                </a:solidFill>
                <a:latin typeface="JetBrains Mono"/>
              </a:rPr>
              <a:t>ONE CONCLUSION: NAÏVE IMPUTATION CAN'T BEAT A TRIVIAL MEAN — THE CROSS-MODAL CEILING IS THE WALL THE PIPELINE MUST BREAK.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11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METHOD SELECTION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11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716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HOW WE PICKED THE TWO METHODS ON THE NEXT SLIDES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83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A0A0A"/>
                </a:solidFill>
                <a:latin typeface="Space Grotesk"/>
              </a:rPr>
              <a:t>We scanned many fields, then tried hard to break what we found.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104241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50" b="1" i="0">
                <a:solidFill>
                  <a:srgbClr val="1C1B19"/>
                </a:solidFill>
                <a:latin typeface="Space Grotesk"/>
              </a:rPr>
              <a:t>Test 1</a:t>
            </a:r>
            <a:r>
              <a:rPr sz="1350" b="0" i="0">
                <a:solidFill>
                  <a:srgbClr val="1C1B19"/>
                </a:solidFill>
                <a:latin typeface="Space Grotesk"/>
              </a:rPr>
              <a:t> — does it respect how we are scored? Mantel ranks distances against a PCA map, so the danger is not nonlinearity but methods like UMAP/t-SNE that distort the global geometry. We kept global-preserving methods.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50" b="1" i="0">
                <a:solidFill>
                  <a:srgbClr val="1C1B19"/>
                </a:solidFill>
                <a:latin typeface="Space Grotesk"/>
              </a:rPr>
              <a:t>Test 2</a:t>
            </a:r>
            <a:r>
              <a:rPr sz="1350" b="0" i="0">
                <a:solidFill>
                  <a:srgbClr val="1C1B19"/>
                </a:solidFill>
                <a:latin typeface="Space Grotesk"/>
              </a:rPr>
              <a:t> — can it place a patient missing a whole omics? We kept methods that build each omics' own similarity and combine them, so a patient is placeable from the omics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029200"/>
            <a:ext cx="36576" cy="91440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0A0A0A"/>
                </a:solidFill>
                <a:latin typeface="Space Grotesk"/>
              </a:rPr>
              <a:t>Then we </a:t>
            </a:r>
            <a:r>
              <a:rPr sz="1400" b="1" i="0">
                <a:solidFill>
                  <a:srgbClr val="FF2D55"/>
                </a:solidFill>
                <a:latin typeface="Space Grotesk"/>
              </a:rPr>
              <a:t>tried to break our own picks</a:t>
            </a:r>
            <a:r>
              <a:rPr sz="1400" b="0" i="0">
                <a:solidFill>
                  <a:srgbClr val="0A0A0A"/>
                </a:solidFill>
                <a:latin typeface="Space Grotesk"/>
              </a:rPr>
              <a:t> and feature the hardened version that fixes each weakness. Every method must beat the naive baseline in the missing-omics case, or we report it as a negative result.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12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INSPIRING METHOD 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12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258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OPTIMAL TRANSPORT · MATH &amp; VISION ORIGIN · SCOT+ 2025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2D55"/>
                </a:solidFill>
                <a:latin typeface="Space Grotesk"/>
              </a:rPr>
              <a:t>①  </a:t>
            </a:r>
            <a:r>
              <a:rPr sz="3000" b="1" i="0">
                <a:solidFill>
                  <a:srgbClr val="0A0A0A"/>
                </a:solidFill>
                <a:latin typeface="Space Grotesk"/>
              </a:rPr>
              <a:t>Augmented / Fused Gromov–Wasserstein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GW compares samples in </a:t>
            </a:r>
            <a:r>
              <a:rPr sz="1450" b="1" i="0">
                <a:solidFill>
                  <a:srgbClr val="1C1B19"/>
                </a:solidFill>
                <a:latin typeface="Space Grotesk"/>
              </a:rPr>
              <a:t>incomparable spaces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 using only within-modality geometry — no shared features needed.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450" b="1" i="0">
                <a:solidFill>
                  <a:srgbClr val="1C1B19"/>
                </a:solidFill>
                <a:latin typeface="Space Grotesk"/>
              </a:rPr>
              <a:t>Adaptation: 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couple a missing-modality sample to the complete samples' geometry, then barycentric-project onto the joint-PCA anchor → distances.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Honest fix (red-team): use </a:t>
            </a:r>
            <a:r>
              <a:rPr sz="1450" b="1" i="0">
                <a:solidFill>
                  <a:srgbClr val="FF2D55"/>
                </a:solidFill>
                <a:latin typeface="Space Grotesk"/>
              </a:rPr>
              <a:t>Augmented GW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 — the feature term breaks GW's rotation/reflection ambiguity.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450" b="1" i="0">
                <a:solidFill>
                  <a:srgbClr val="1C1B19"/>
                </a:solidFill>
                <a:latin typeface="Space Grotesk"/>
              </a:rPr>
              <a:t>Gate: 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must beat mean/PLS in the missing regime, else reported as a negative result.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INSPIRING METHOD 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13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3258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WAYFINDING · GPS-STYLE TRIANGULATION · OUR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2D55"/>
                </a:solidFill>
                <a:latin typeface="Space Grotesk"/>
              </a:rPr>
              <a:t>②  </a:t>
            </a:r>
            <a:r>
              <a:rPr sz="3000" b="1" i="0">
                <a:solidFill>
                  <a:srgbClr val="0A0A0A"/>
                </a:solidFill>
                <a:latin typeface="Space Grotesk"/>
              </a:rPr>
              <a:t>CM-Harmonic-Aniso: triangulate, don't impute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Pin the 1042 complete patients at their </a:t>
            </a:r>
            <a:r>
              <a:rPr sz="1450" b="1" i="0">
                <a:solidFill>
                  <a:srgbClr val="1C1B19"/>
                </a:solidFill>
                <a:latin typeface="Space Grotesk"/>
              </a:rPr>
              <a:t>true first-two-PC coordinates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 (the exact thing we are graded on) as fixed landmarks. The only method anchored on the grader's own target.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Place each of the 696 single-omics patients by </a:t>
            </a:r>
            <a:r>
              <a:rPr sz="1450" b="1" i="0">
                <a:solidFill>
                  <a:srgbClr val="FF2D55"/>
                </a:solidFill>
                <a:latin typeface="Space Grotesk"/>
              </a:rPr>
              <a:t>triangulating off those landmarks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: one harmonic solve on a fused graph where a missing omics is no edge, never an invented value.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450" b="1" i="0">
                <a:solidFill>
                  <a:srgbClr val="1C1B19"/>
                </a:solidFill>
                <a:latin typeface="Space Grotesk"/>
              </a:rPr>
              <a:t>Honest per-axis split: 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the part carried by the omics you have beats every imputation baseline; the part needing the missing omics falls back to the average, provably never worse than mean-impute.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450" b="1" i="0">
                <a:solidFill>
                  <a:srgbClr val="1C1B19"/>
                </a:solidFill>
                <a:latin typeface="Space Grotesk"/>
              </a:rPr>
              <a:t>Gate: </a:t>
            </a:r>
            <a:r>
              <a:rPr sz="1450" b="0" i="0">
                <a:solidFill>
                  <a:srgbClr val="1C1B19"/>
                </a:solidFill>
                <a:latin typeface="Space Grotesk"/>
              </a:rPr>
              <a:t>must beat mean/PLS per-axis on held-out patients, with a fail-closed fallback to PLS on boundary-poor cohorts, else a negative result.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365760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14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PIPELINE &amp; EVALUATION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14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1887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THE PLAN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89320" y="1737360"/>
            <a:ext cx="0" cy="420624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17373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 spc="160">
                <a:solidFill>
                  <a:srgbClr val="FF2D55"/>
                </a:solidFill>
                <a:latin typeface="JetBrains Mono"/>
              </a:rPr>
              <a:t>PIPELINE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2121408"/>
            <a:ext cx="4846319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2286000"/>
            <a:ext cx="48463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CLR(microbiome), log1p+standardise(metabolome); scaler &amp; PCA fit on </a:t>
            </a:r>
            <a:r>
              <a:rPr sz="1300" b="1" i="0">
                <a:solidFill>
                  <a:srgbClr val="1C1B19"/>
                </a:solidFill>
                <a:latin typeface="Space Grotesk"/>
              </a:rPr>
              <a:t>train only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Core: AGW-OT and CM-Harmonic-Aniso vs. the baseline ladder.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Ablations: ProMA (info-geometry floor) and DLB (diffusion-kernel check) to test what anchoring buys.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Baseline ladder: mean / KNN / RF / PLS→frozen-PCA.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 spc="160">
                <a:solidFill>
                  <a:srgbClr val="FF2D55"/>
                </a:solidFill>
                <a:latin typeface="JetBrains Mono"/>
              </a:rPr>
              <a:t>EVALUATION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9360" y="2121408"/>
            <a:ext cx="4846320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09360" y="2286000"/>
            <a:ext cx="50292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Mantel r vs. PCA-2PC ground truth (reproduce the grader exactly).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Sweep missing-% = 10/30/50, </a:t>
            </a:r>
            <a:r>
              <a:rPr sz="1300" b="1" i="0">
                <a:solidFill>
                  <a:srgbClr val="1C1B19"/>
                </a:solidFill>
                <a:latin typeface="Space Grotesk"/>
              </a:rPr>
              <a:t>both directions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00" b="1" i="0">
                <a:solidFill>
                  <a:srgbClr val="FF2D55"/>
                </a:solidFill>
                <a:latin typeface="Space Grotesk"/>
              </a:rPr>
              <a:t>Subject-grouped CV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 — distance pairs are non-iid; no leakage.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FF2D55"/>
                </a:solidFill>
                <a:latin typeface="Space Grotesk"/>
              </a:rPr>
              <a:t>— </a:t>
            </a:r>
            <a:r>
              <a:rPr sz="1300" b="0" i="0">
                <a:solidFill>
                  <a:srgbClr val="1C1B19"/>
                </a:solidFill>
                <a:latin typeface="Space Grotesk"/>
              </a:rPr>
              <a:t>Report performance and runtime vs. the baseline.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28055" y="365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APPENDIX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7240" y="6272784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COMPUTATIONAL MICROBIOME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71255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 spc="140">
                <a:solidFill>
                  <a:srgbClr val="6B6863"/>
                </a:solidFill>
                <a:latin typeface="JetBrains Mono"/>
              </a:rPr>
              <a:t>15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601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APPENDIX · SUPPORTING EXPLORATION</a:t>
            </a:r>
          </a:p>
        </p:txBody>
      </p:sp>
      <p:pic>
        <p:nvPicPr>
          <p:cNvPr id="10" name="Picture 9" descr="06_between_group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63040"/>
            <a:ext cx="2987040" cy="2240280"/>
          </a:xfrm>
          <a:prstGeom prst="rect">
            <a:avLst/>
          </a:prstGeom>
        </p:spPr>
      </p:pic>
      <p:pic>
        <p:nvPicPr>
          <p:cNvPr id="11" name="Picture 10" descr="08_metabolome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63040"/>
            <a:ext cx="3360420" cy="2240280"/>
          </a:xfrm>
          <a:prstGeom prst="rect">
            <a:avLst/>
          </a:prstGeom>
        </p:spPr>
      </p:pic>
      <p:pic>
        <p:nvPicPr>
          <p:cNvPr id="12" name="Picture 11" descr="03_alpha_divers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977639"/>
            <a:ext cx="4023360" cy="2011680"/>
          </a:xfrm>
          <a:prstGeom prst="rect">
            <a:avLst/>
          </a:prstGeom>
        </p:spPr>
      </p:pic>
      <p:pic>
        <p:nvPicPr>
          <p:cNvPr id="13" name="Picture 12" descr="13_gender_by_gro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977639"/>
            <a:ext cx="3868615" cy="2011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7673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 i="0" spc="60">
                <a:solidFill>
                  <a:srgbClr val="6B6863"/>
                </a:solidFill>
                <a:latin typeface="JetBrains Mono"/>
              </a:rPr>
              <a:t>AVG MICROBIOME DISTANCE BETWEEN 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7673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 i="0" spc="60">
                <a:solidFill>
                  <a:srgbClr val="6B6863"/>
                </a:solidFill>
                <a:latin typeface="JetBrains Mono"/>
              </a:rPr>
              <a:t>METABOLITES ELEVATED / REDUCED BY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0533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 i="0" spc="60">
                <a:solidFill>
                  <a:srgbClr val="6B6863"/>
                </a:solidFill>
                <a:latin typeface="JetBrains Mono"/>
              </a:rPr>
              <a:t>SHANNON DIVERSITY BY GROUP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05332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 i="0" spc="60">
                <a:solidFill>
                  <a:srgbClr val="6B6863"/>
                </a:solidFill>
                <a:latin typeface="JetBrains Mono"/>
              </a:rPr>
              <a:t>GENDER COMPOSITION BY GROUP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79" y="-365760"/>
            <a:ext cx="51206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0" b="1" i="0">
                <a:solidFill>
                  <a:srgbClr val="F1C9D2"/>
                </a:solidFill>
                <a:latin typeface="Space Grotesk"/>
              </a:rPr>
              <a:t>16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420624"/>
            <a:ext cx="91440" cy="9144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365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160">
                <a:solidFill>
                  <a:srgbClr val="6B6863"/>
                </a:solidFill>
                <a:latin typeface="JetBrains Mono"/>
              </a:rPr>
              <a:t>METACARDIS · MILESTONE 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" y="749808"/>
            <a:ext cx="10637215" cy="0"/>
          </a:xfrm>
          <a:prstGeom prst="bentConnector3">
            <a:avLst/>
          </a:prstGeom>
          <a:ln w="12700">
            <a:solidFill>
              <a:srgbClr val="DAD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2011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180">
                <a:solidFill>
                  <a:srgbClr val="FF2D55"/>
                </a:solidFill>
                <a:latin typeface="JetBrains Mono"/>
              </a:rPr>
              <a:t>KEY CHALLENGES →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0A0A0A"/>
                </a:solidFill>
                <a:latin typeface="Space Grotesk"/>
              </a:rPr>
              <a:t>Beat mean imputation by exploiting the </a:t>
            </a:r>
            <a:r>
              <a:rPr sz="3000" b="1" i="0">
                <a:solidFill>
                  <a:srgbClr val="FF2D55"/>
                </a:solidFill>
                <a:latin typeface="Space Grotesk"/>
              </a:rPr>
              <a:t>predictable cross-modal subset</a:t>
            </a:r>
            <a:r>
              <a:rPr sz="3000" b="0" i="0">
                <a:solidFill>
                  <a:srgbClr val="0A0A0A"/>
                </a:solidFill>
                <a:latin typeface="Space Grotesk"/>
              </a:rPr>
              <a:t> + the metabolome-only direction.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80560"/>
            <a:ext cx="1051560" cy="45720"/>
          </a:xfrm>
          <a:prstGeom prst="rect">
            <a:avLst/>
          </a:prstGeom>
          <a:solidFill>
            <a:srgbClr val="FF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 spc="40">
                <a:solidFill>
                  <a:srgbClr val="6B6863"/>
                </a:solidFill>
                <a:latin typeface="JetBrains Mono"/>
              </a:rPr>
              <a:t>Next: implement AGW-OT + CM-Harmonic-Aniso · per-axis Mantel-vs-missing% sweep vs. the baseline ladder.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