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182880" y="-365760"/>
            <a:ext cx="54864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5544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MULTI-OMICS · MISSING-MODALITY DISTANCES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87782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Estimating sample distances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across multi-omics,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2D55"/>
                </a:solidFill>
                <a:latin typeface="Space Grotesk"/>
              </a:rPr>
              <a:t>under missing modalities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800600"/>
            <a:ext cx="1051560" cy="4572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80">
                <a:solidFill>
                  <a:srgbClr val="6B6863"/>
                </a:solidFill>
                <a:latin typeface="JetBrains Mono"/>
              </a:rPr>
              <a:t>Group ____________   ·   MetaCardis 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THE PROBLEM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WHAT WE ARE ACTUALLY ASKED TO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96926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A0A0A"/>
                </a:solidFill>
                <a:latin typeface="Space Grotesk"/>
              </a:rPr>
              <a:t>A sample×sample </a:t>
            </a:r>
            <a:r>
              <a:rPr sz="3000" b="1" i="0">
                <a:solidFill>
                  <a:srgbClr val="FF2D55"/>
                </a:solidFill>
                <a:latin typeface="Space Grotesk"/>
              </a:rPr>
              <a:t>distance matrix</a:t>
            </a:r>
            <a:r>
              <a:rPr sz="3000" b="0" i="0">
                <a:solidFill>
                  <a:srgbClr val="0A0A0A"/>
                </a:solidFill>
                <a:latin typeface="Space Grotesk"/>
              </a:rPr>
              <a:t> from two omics — that holds up when an entire modality is </a:t>
            </a:r>
            <a:r>
              <a:rPr sz="3000" b="1" i="0">
                <a:solidFill>
                  <a:srgbClr val="FF2D55"/>
                </a:solidFill>
                <a:latin typeface="Space Grotesk"/>
              </a:rPr>
              <a:t>missing</a:t>
            </a:r>
            <a:r>
              <a:rPr sz="3000" b="0" i="0">
                <a:solidFill>
                  <a:srgbClr val="0A0A0A"/>
                </a:solidFill>
                <a:latin typeface="Space Grotesk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23360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C1B19"/>
                </a:solidFill>
                <a:latin typeface="Space Grotesk"/>
              </a:rPr>
              <a:t>Graded by </a:t>
            </a:r>
            <a:r>
              <a:rPr sz="1500" b="1" i="0">
                <a:solidFill>
                  <a:srgbClr val="1C1B19"/>
                </a:solidFill>
                <a:latin typeface="Space Grotesk"/>
              </a:rPr>
              <a:t>Mantel test</a:t>
            </a:r>
            <a:r>
              <a:rPr sz="1500" b="0" i="0">
                <a:solidFill>
                  <a:srgbClr val="1C1B19"/>
                </a:solidFill>
                <a:latin typeface="Space Grotesk"/>
              </a:rPr>
              <a:t> vs. ground truth: standardise all features → PCA → Euclidean in the first 2 PCs. The target geometry is linear.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C1B19"/>
                </a:solidFill>
                <a:latin typeface="Space Grotesk"/>
              </a:rPr>
              <a:t>With both modalities present that target is trivially recomputable — so the whole problem lives in the </a:t>
            </a:r>
            <a:r>
              <a:rPr sz="1500" b="1" i="0">
                <a:solidFill>
                  <a:srgbClr val="FF2D55"/>
                </a:solidFill>
                <a:latin typeface="Space Grotesk"/>
              </a:rPr>
              <a:t>missing-modality regime</a:t>
            </a:r>
            <a:r>
              <a:rPr sz="1500" b="0" i="0">
                <a:solidFill>
                  <a:srgbClr val="1C1B19"/>
                </a:solidFill>
                <a:latin typeface="Space Grotesk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EXPLORATION / DATA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058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THE DATA ALREADY CONTAINS 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A0A0A"/>
                </a:solidFill>
                <a:latin typeface="Space Grotesk"/>
              </a:rPr>
              <a:t>~40% of subjects are missing a whole modality</a:t>
            </a:r>
          </a:p>
        </p:txBody>
      </p:sp>
      <p:pic>
        <p:nvPicPr>
          <p:cNvPr id="12" name="Picture 11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240280"/>
            <a:ext cx="10634472" cy="2658618"/>
          </a:xfrm>
          <a:prstGeom prst="rect">
            <a:avLst/>
          </a:prstGeom>
        </p:spPr>
      </p:pic>
      <p:cxnSp>
        <p:nvCxnSpPr>
          <p:cNvPr id="13" name="Connector 12"/>
          <p:cNvCxnSpPr/>
          <p:nvPr/>
        </p:nvCxnSpPr>
        <p:spPr>
          <a:xfrm>
            <a:off x="777240" y="5257800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44068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1042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153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BOTH 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44068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348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6153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MICROBIOME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544068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348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6153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METABOLOME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544068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A0A0A"/>
                </a:solidFill>
                <a:latin typeface="Space Grotesk"/>
              </a:rPr>
              <a:t>528</a:t>
            </a:r>
            <a:r>
              <a:rPr sz="4000" b="1" i="0">
                <a:solidFill>
                  <a:srgbClr val="FF2D55"/>
                </a:solidFill>
                <a:latin typeface="Space Grotesk"/>
              </a:rPr>
              <a:t> → </a:t>
            </a:r>
            <a:r>
              <a:rPr sz="4000" b="1" i="0">
                <a:solidFill>
                  <a:srgbClr val="0A0A0A"/>
                </a:solidFill>
                <a:latin typeface="Space Grotesk"/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6153912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T2D → CHF (IMBALANCE)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EXPLORATION / MISSINGNESS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MISSINGNESS IS STRUCTURED, NOT RANDOM</a:t>
            </a:r>
          </a:p>
        </p:txBody>
      </p:sp>
      <p:pic>
        <p:nvPicPr>
          <p:cNvPr id="11" name="Picture 10" descr="02_missing_by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6035040" cy="34485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98079" y="1828800"/>
            <a:ext cx="39319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1C1B19"/>
                </a:solidFill>
                <a:latin typeface="Space Grotesk"/>
              </a:rPr>
              <a:t>Metadata is </a:t>
            </a:r>
            <a:r>
              <a:rPr sz="1400" b="1" i="0">
                <a:solidFill>
                  <a:srgbClr val="FF2D55"/>
                </a:solidFill>
                <a:latin typeface="Space Grotesk"/>
              </a:rPr>
              <a:t>MNAR by country</a:t>
            </a:r>
            <a:r>
              <a:rPr sz="1400" b="0" i="0">
                <a:solidFill>
                  <a:srgbClr val="1C1B19"/>
                </a:solidFill>
                <a:latin typeface="Space Grotesk"/>
              </a:rPr>
              <a:t> — Denmark 100% missing BMI / age / sex (privacy law), France ~2%, Germany 0%.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1C1B19"/>
                </a:solidFill>
                <a:latin typeface="Space Grotesk"/>
              </a:rPr>
              <a:t>Omics missingness (the 348 / 348) is spread evenly across center and disease group — a different mechanism.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4572000"/>
            <a:ext cx="36576" cy="86868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57200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A0A0A"/>
                </a:solidFill>
                <a:latin typeface="Space Grotesk"/>
              </a:rPr>
              <a:t>Two missingness types → handled separately in the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EXPLORATION / STRUCTURE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CENTER STRUCTURES THE MICROBIOME MORE THAN DISEASE</a:t>
            </a:r>
          </a:p>
        </p:txBody>
      </p:sp>
      <p:pic>
        <p:nvPicPr>
          <p:cNvPr id="11" name="Picture 10" descr="04_microbiome_pco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766560" cy="2537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1783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80">
                <a:solidFill>
                  <a:srgbClr val="6B6863"/>
                </a:solidFill>
                <a:latin typeface="JetBrains Mono"/>
              </a:rPr>
              <a:t>PCoA (AITCHISON) · PC1 25% · PC2 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860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2D55"/>
                </a:solidFill>
                <a:latin typeface="Space Grotesk"/>
              </a:rPr>
              <a:t>8.84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9923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PERMANOVA F · CENTER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138160" y="3337560"/>
            <a:ext cx="3200400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0" y="347472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2D55"/>
                </a:solidFill>
                <a:latin typeface="Space Grotesk"/>
              </a:rPr>
              <a:t>3.72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18795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PERMANOVA F · DISEASE 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572000"/>
            <a:ext cx="32918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C1B19"/>
                </a:solidFill>
                <a:latin typeface="Space Grotesk"/>
              </a:rPr>
              <a:t>Both p≈0.005 → </a:t>
            </a:r>
            <a:r>
              <a:rPr sz="1250" b="1" i="0">
                <a:solidFill>
                  <a:srgbClr val="FF2D55"/>
                </a:solidFill>
                <a:latin typeface="Space Grotesk"/>
              </a:rPr>
              <a:t>batch/geography dominates</a:t>
            </a:r>
            <a:r>
              <a:rPr sz="1250" b="0" i="0">
                <a:solidFill>
                  <a:srgbClr val="1C1B19"/>
                </a:solidFill>
                <a:latin typeface="Space Grotesk"/>
              </a:rPr>
              <a:t>. The grader's truth keeps it, so de-batching may hurt Mantel.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EXPLORATION / PER-OMICS SIGNAL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STRONG SIGNAL EXISTS WITHIN EACH OMICS</a:t>
            </a:r>
          </a:p>
        </p:txBody>
      </p:sp>
      <p:pic>
        <p:nvPicPr>
          <p:cNvPr id="11" name="Picture 10" descr="07_diff_abun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4937760" cy="3840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5623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6B6863"/>
                </a:solidFill>
                <a:latin typeface="JetBrains Mono"/>
              </a:rPr>
              <a:t>107/170 SPECIES DIFFER T2D VS CONTROL (BONFERRONI)</a:t>
            </a:r>
          </a:p>
        </p:txBody>
      </p:sp>
      <p:pic>
        <p:nvPicPr>
          <p:cNvPr id="13" name="Picture 12" descr="08_metabolome_tr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548640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8064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60">
                <a:solidFill>
                  <a:srgbClr val="6B6863"/>
                </a:solidFill>
                <a:latin typeface="JetBrains Mono"/>
              </a:rPr>
              <a:t>METABOLITE GRADIENTS TRACK DISEASE STATE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07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EXPLORATION / COUPLING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515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CROSS-OMICS COUPLING IS WEAK — THIS CAPS IMPUTATION</a:t>
            </a:r>
          </a:p>
        </p:txBody>
      </p:sp>
      <p:pic>
        <p:nvPicPr>
          <p:cNvPr id="11" name="Picture 10" descr="09_cross_omics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730240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32320" y="1920240"/>
            <a:ext cx="4206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600"/>
              </a:spcAft>
            </a:pPr>
            <a:r>
              <a:rPr sz="5200" b="1" i="0">
                <a:solidFill>
                  <a:srgbClr val="FF2D55"/>
                </a:solidFill>
                <a:latin typeface="Space Grotesk"/>
              </a:rPr>
              <a:t>0.382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3347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20">
                <a:solidFill>
                  <a:srgbClr val="6B6863"/>
                </a:solidFill>
                <a:latin typeface="JetBrains Mono"/>
              </a:rPr>
              <a:t>MAX |SPEARMAN| TAXA ↔ METABOLITE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00400"/>
            <a:ext cx="42062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0" i="0">
                <a:solidFill>
                  <a:srgbClr val="1C1B19"/>
                </a:solidFill>
                <a:latin typeface="Space Grotesk"/>
              </a:rPr>
              <a:t>Only a metabolite-specific subset is predictable from microbiome → any cross-modal imputation has a </a:t>
            </a:r>
            <a:r>
              <a:rPr sz="1400" b="1" i="0">
                <a:solidFill>
                  <a:srgbClr val="FF2D55"/>
                </a:solidFill>
                <a:latin typeface="Space Grotesk"/>
              </a:rPr>
              <a:t>low ceiling</a:t>
            </a:r>
            <a:r>
              <a:rPr sz="1400" b="0" i="0">
                <a:solidFill>
                  <a:srgbClr val="1C1B19"/>
                </a:solidFill>
                <a:latin typeface="Space Grotesk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C1B19"/>
                </a:solidFill>
                <a:latin typeface="Space Grotesk"/>
              </a:rPr>
              <a:t>Disease prediction (RF, balanced acc, 9-class, chance≈0.11): both omics </a:t>
            </a:r>
            <a:r>
              <a:rPr sz="1300" b="1" i="0">
                <a:solidFill>
                  <a:srgbClr val="1C1B19"/>
                </a:solidFill>
                <a:latin typeface="Space Grotesk"/>
              </a:rPr>
              <a:t>0.26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 · microbiome-only </a:t>
            </a:r>
            <a:r>
              <a:rPr sz="1300" b="1" i="0">
                <a:solidFill>
                  <a:srgbClr val="1C1B19"/>
                </a:solidFill>
                <a:latin typeface="Space Grotesk"/>
              </a:rPr>
              <a:t>0.191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08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NAÏVE BASELINE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0972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MANDATORY BASELINE — AND A RESULT THAT SHAPES EVERYTHING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554480"/>
            <a:ext cx="4937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A0A0A"/>
                </a:solidFill>
                <a:latin typeface="Space Grotesk"/>
              </a:rPr>
              <a:t>Mean imputation </a:t>
            </a:r>
            <a:r>
              <a:rPr sz="2600" b="1" i="0">
                <a:solidFill>
                  <a:srgbClr val="FF2D55"/>
                </a:solidFill>
                <a:latin typeface="Space Grotesk"/>
              </a:rPr>
              <a:t>ties or beats</a:t>
            </a:r>
            <a:r>
              <a:rPr sz="2600" b="1" i="0">
                <a:solidFill>
                  <a:srgbClr val="0A0A0A"/>
                </a:solidFill>
                <a:latin typeface="Space Grotesk"/>
              </a:rPr>
              <a:t> KNN and PLS.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6B6863"/>
                </a:solidFill>
                <a:latin typeface="Space Grotesk"/>
              </a:rPr>
              <a:t>Drop metabolome for x% of complete samples, impute, recompute distances, Mantel vs. full-data truth.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250" b="0" i="0">
                <a:solidFill>
                  <a:srgbClr val="1C1B19"/>
                </a:solidFill>
                <a:latin typeface="Space Grotesk"/>
              </a:rPr>
              <a:t>Linear PCA target → a mean-imputed block ≈ 0 after standardising, so it stops contributing.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250" b="0" i="0">
                <a:solidFill>
                  <a:srgbClr val="1C1B19"/>
                </a:solidFill>
                <a:latin typeface="Space Grotesk"/>
              </a:rPr>
              <a:t>Cross-modal r≤0.38 is too weak for regression to beat that.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250" b="0" i="0">
                <a:solidFill>
                  <a:srgbClr val="1C1B19"/>
                </a:solidFill>
                <a:latin typeface="Space Grotesk"/>
              </a:rPr>
              <a:t>Bar at 50% missing ≈ 0.77, already cleared trivially.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6B6863"/>
                </a:solidFill>
                <a:latin typeface="JetBrains Mono"/>
              </a:rPr>
              <a:t>DROPPED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17373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6B6863"/>
                </a:solidFill>
                <a:latin typeface="JetBrains Mono"/>
              </a:rPr>
              <a:t>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373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6B6863"/>
                </a:solidFill>
                <a:latin typeface="JetBrains Mono"/>
              </a:rPr>
              <a:t>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17373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 spc="120">
                <a:solidFill>
                  <a:srgbClr val="6B6863"/>
                </a:solidFill>
                <a:latin typeface="JetBrains Mono"/>
              </a:rPr>
              <a:t>PLS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0" y="2121408"/>
            <a:ext cx="4937760" cy="0"/>
          </a:xfrm>
          <a:prstGeom prst="bentConnector3">
            <a:avLst/>
          </a:prstGeom>
          <a:ln w="25400">
            <a:solidFill>
              <a:srgbClr val="0A0A0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0" y="230428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6863"/>
                </a:solidFill>
                <a:latin typeface="JetBrains Mono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25856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2D55"/>
                </a:solidFill>
                <a:latin typeface="JetBrains Mono"/>
              </a:rPr>
              <a:t>0.957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25856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0.956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258568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0.955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0" y="2871216"/>
            <a:ext cx="4937760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0" y="301752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6863"/>
                </a:solidFill>
                <a:latin typeface="JetBrains Mono"/>
              </a:rPr>
              <a:t>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97180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2D55"/>
                </a:solidFill>
                <a:latin typeface="JetBrains Mono"/>
              </a:rPr>
              <a:t>0.888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97180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0.876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971800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0.872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00800" y="3584448"/>
            <a:ext cx="4937760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0" y="373075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B6863"/>
                </a:solidFill>
                <a:latin typeface="JetBrains Mono"/>
              </a:rPr>
              <a:t>50%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368503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2D55"/>
                </a:solidFill>
                <a:latin typeface="JetBrains Mono"/>
              </a:rPr>
              <a:t>0.773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68503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0.76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685032"/>
            <a:ext cx="1143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0A0A0A"/>
                </a:solidFill>
                <a:latin typeface="JetBrains Mono"/>
              </a:rPr>
              <a:t>0.768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0800" y="4297680"/>
            <a:ext cx="4937760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8521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80">
                <a:solidFill>
                  <a:srgbClr val="6B6863"/>
                </a:solidFill>
                <a:latin typeface="JetBrains Mono"/>
              </a:rPr>
              <a:t>MANTEL R VS. PCA-2PC GROUND TRUTH · ● = BEST IN ROW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09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METHOD SELECTION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HOW WE CHOSE THE INSPIRING METHODS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0A0A0A"/>
                </a:solidFill>
                <a:latin typeface="Space Grotesk"/>
              </a:rPr>
              <a:t>Broad cross-field scout, then an adversarial review.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Filter 1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sound for a linear Mantel target (deep/nonlinear methods risk decorrelating).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Filter 2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native whole-modality missingness, not entry-level imputation.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Filter 3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genuinely cutting-edge (2024–2026), novel for microbiome+metabolome.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937760"/>
            <a:ext cx="36576" cy="91440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37760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0A0A0A"/>
                </a:solidFill>
                <a:latin typeface="Space Grotesk"/>
              </a:rPr>
              <a:t>The review </a:t>
            </a:r>
            <a:r>
              <a:rPr sz="1400" b="1" i="0">
                <a:solidFill>
                  <a:srgbClr val="FF2D55"/>
                </a:solidFill>
                <a:latin typeface="Space Grotesk"/>
              </a:rPr>
              <a:t>killed our flashiest first picks</a:t>
            </a:r>
            <a:r>
              <a:rPr sz="1400" b="0" i="0">
                <a:solidFill>
                  <a:srgbClr val="0A0A0A"/>
                </a:solidFill>
                <a:latin typeface="Space Grotesk"/>
              </a:rPr>
              <a:t> honestly — Gromov–Wasserstein's mirror-placement ambiguity; distance-distillation overfitting a linear target. We feature de-risked versions.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INSPIRING METHOD 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OPTIMAL TRANSPORT · MATH &amp; VISION ORIGIN · SCOT+ 2025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2D55"/>
                </a:solidFill>
                <a:latin typeface="Space Grotesk"/>
              </a:rPr>
              <a:t>①  </a:t>
            </a:r>
            <a:r>
              <a:rPr sz="3000" b="1" i="0">
                <a:solidFill>
                  <a:srgbClr val="0A0A0A"/>
                </a:solidFill>
                <a:latin typeface="Space Grotesk"/>
              </a:rPr>
              <a:t>Augmented / Fused Gromov–Wasserstein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424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GW compares samples in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incomparable spaces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using only within-modality geometry — no shared features needed.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Adaptation: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couple a missing-modality sample to the complete samples' geometry, then barycentric-project onto the joint-PCA anchor → distances.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Honest fix (red-team): use </a:t>
            </a:r>
            <a:r>
              <a:rPr sz="1450" b="1" i="0">
                <a:solidFill>
                  <a:srgbClr val="FF2D55"/>
                </a:solidFill>
                <a:latin typeface="Space Grotesk"/>
              </a:rPr>
              <a:t>Augmented GW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the feature term breaks GW's rotation/reflection ambiguity.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Gate: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must beat mean/PLS in the missing regime, else reported as a negative result.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INSPIRING METHOD ②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258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SIMILARITY NETWORK FUSION · BIOINFORMATICS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37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2D55"/>
                </a:solidFill>
                <a:latin typeface="Space Grotesk"/>
              </a:rPr>
              <a:t>②  </a:t>
            </a:r>
            <a:r>
              <a:rPr sz="3000" b="1" i="0">
                <a:solidFill>
                  <a:srgbClr val="0A0A0A"/>
                </a:solidFill>
                <a:latin typeface="Space Grotesk"/>
              </a:rPr>
              <a:t>miss-SNF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424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First SNF variant for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completely missing data sources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. One similarity network per modality, fused by cross-diffusion.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A sample missing a source is reconstructed through its </a:t>
            </a:r>
            <a:r>
              <a:rPr sz="1450" b="1" i="0">
                <a:solidFill>
                  <a:srgbClr val="FF2D55"/>
                </a:solidFill>
                <a:latin typeface="Space Grotesk"/>
              </a:rPr>
              <a:t>shared neighbours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no feature imputation.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1" i="0">
                <a:solidFill>
                  <a:srgbClr val="1C1B19"/>
                </a:solidFill>
                <a:latin typeface="Space Grotesk"/>
              </a:rPr>
              <a:t>Output is a fused n×n similarity → distance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 — our exact deliverable.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100"/>
              </a:spcAft>
            </a:pPr>
            <a:r>
              <a:rPr sz="145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450" b="0" i="0">
                <a:solidFill>
                  <a:srgbClr val="1C1B19"/>
                </a:solidFill>
                <a:latin typeface="Space Grotesk"/>
              </a:rPr>
              <a:t>Risk we watch: diffusion is nonlinear → verify Mantel alignment vs. the linear target.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3657600"/>
            <a:ext cx="512064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28055" y="3657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PIPELINE &amp;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" y="6272784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COMPUTATIONAL MICROBIOME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 spc="140">
                <a:solidFill>
                  <a:srgbClr val="6B6863"/>
                </a:solidFill>
                <a:latin typeface="JetBrains Mono"/>
              </a:rPr>
              <a:t>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THE PLAN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9320" y="1737360"/>
            <a:ext cx="0" cy="420624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spc="160">
                <a:solidFill>
                  <a:srgbClr val="FF2D55"/>
                </a:solidFill>
                <a:latin typeface="JetBrains Mono"/>
              </a:rPr>
              <a:t>PIPELINE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2121408"/>
            <a:ext cx="4846319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228600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CLR(microbiome), log1p+standardise(metabolome); scaler &amp; PCA fit on </a:t>
            </a:r>
            <a:r>
              <a:rPr sz="1300" b="1" i="0">
                <a:solidFill>
                  <a:srgbClr val="1C1B19"/>
                </a:solidFill>
                <a:latin typeface="Space Grotesk"/>
              </a:rPr>
              <a:t>train only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Core: AGW-OT and/or miss-SNF vs. the baseline ladder.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Sound comparator: coupled factorisation (ACMTF-R, 2026) — distances from the </a:t>
            </a:r>
            <a:r>
              <a:rPr sz="1300" b="1" i="0">
                <a:solidFill>
                  <a:srgbClr val="1C1B19"/>
                </a:solidFill>
                <a:latin typeface="Space Grotesk"/>
              </a:rPr>
              <a:t>common components only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Baseline ladder: mean / KNN / RF / PLS→frozen-PCA.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7373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 spc="160">
                <a:solidFill>
                  <a:srgbClr val="FF2D55"/>
                </a:solidFill>
                <a:latin typeface="JetBrains Mono"/>
              </a:rPr>
              <a:t>EVALUATION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59" y="2121408"/>
            <a:ext cx="4846321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09359" y="2286000"/>
            <a:ext cx="50292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Mantel r vs. PCA-2PC ground truth (reproduce the grader exactly).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Sweep missing-% = 10/30/50, </a:t>
            </a:r>
            <a:r>
              <a:rPr sz="1300" b="1" i="0">
                <a:solidFill>
                  <a:srgbClr val="1C1B19"/>
                </a:solidFill>
                <a:latin typeface="Space Grotesk"/>
              </a:rPr>
              <a:t>both directions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1" i="0">
                <a:solidFill>
                  <a:srgbClr val="FF2D55"/>
                </a:solidFill>
                <a:latin typeface="Space Grotesk"/>
              </a:rPr>
              <a:t>Subject-grouped CV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 — distance pairs are non-iid; no leakage.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2D55"/>
                </a:solidFill>
                <a:latin typeface="Space Grotesk"/>
              </a:rPr>
              <a:t>— </a:t>
            </a:r>
            <a:r>
              <a:rPr sz="1300" b="0" i="0">
                <a:solidFill>
                  <a:srgbClr val="1C1B19"/>
                </a:solidFill>
                <a:latin typeface="Space Grotesk"/>
              </a:rPr>
              <a:t>Report performance and runtime vs. the baseline.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79" y="-36576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0" b="1" i="0">
                <a:solidFill>
                  <a:srgbClr val="F1C9D2"/>
                </a:solidFill>
                <a:latin typeface="Space Grotesk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20624"/>
            <a:ext cx="91440" cy="9144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36576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 spc="160">
                <a:solidFill>
                  <a:srgbClr val="6B6863"/>
                </a:solidFill>
                <a:latin typeface="JetBrains Mono"/>
              </a:rPr>
              <a:t>METACARDIS · MILESTONE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749808"/>
            <a:ext cx="10637215" cy="0"/>
          </a:xfrm>
          <a:prstGeom prst="bentConnector3">
            <a:avLst/>
          </a:prstGeom>
          <a:ln w="12700">
            <a:solidFill>
              <a:srgbClr val="DAD7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20116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 spc="180">
                <a:solidFill>
                  <a:srgbClr val="FF2D55"/>
                </a:solidFill>
                <a:latin typeface="JetBrains Mono"/>
              </a:rPr>
              <a:t>KEY CHALLENGES →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0A0A0A"/>
                </a:solidFill>
                <a:latin typeface="Space Grotesk"/>
              </a:rPr>
              <a:t>Beat mean imputation by exploiting the </a:t>
            </a:r>
            <a:r>
              <a:rPr sz="3000" b="1" i="0">
                <a:solidFill>
                  <a:srgbClr val="FF2D55"/>
                </a:solidFill>
                <a:latin typeface="Space Grotesk"/>
              </a:rPr>
              <a:t>predictable cross-modal subset</a:t>
            </a:r>
            <a:r>
              <a:rPr sz="3000" b="0" i="0">
                <a:solidFill>
                  <a:srgbClr val="0A0A0A"/>
                </a:solidFill>
                <a:latin typeface="Space Grotesk"/>
              </a:rPr>
              <a:t> + the metabolome-only direction.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4480560"/>
            <a:ext cx="1051560" cy="45720"/>
          </a:xfrm>
          <a:prstGeom prst="rect">
            <a:avLst/>
          </a:prstGeom>
          <a:solidFill>
            <a:srgbClr val="FF2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 spc="40">
                <a:solidFill>
                  <a:srgbClr val="6B6863"/>
                </a:solidFill>
                <a:latin typeface="JetBrains Mono"/>
              </a:rPr>
              <a:t>Next: implement AGW-OT + miss-SNF · full Mantel-vs-missing% sweep vs. the baseline ladder.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